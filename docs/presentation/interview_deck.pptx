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58b510751974dd8" /><Relationship Type="http://schemas.openxmlformats.org/officeDocument/2006/relationships/extended-properties" Target="/docProps/app.xml" Id="R91051acc0469428f" /><Relationship Type="http://schemas.openxmlformats.org/officeDocument/2006/relationships/officeDocument" Target="/ppt/presentation.xml" Id="R73b18e5a26c74f43" /></Relationships>
</file>

<file path=ppt/presentation.xml><?xml version="1.0" encoding="utf-8"?>
<p:presentation xmlns:p="http://schemas.openxmlformats.org/presentationml/2006/main">
  <p:sldMasterIdLst>
    <p:sldMasterId xmlns:r="http://schemas.openxmlformats.org/officeDocument/2006/relationships" id="2147483648" r:id="Ra8ef4f2e2471448a"/>
  </p:sldMasterIdLst>
  <p:notesMasterIdLst>
    <p:notesMasterId xmlns:r="http://schemas.openxmlformats.org/officeDocument/2006/relationships" r:id="R91d068338fe34d26"/>
  </p:notesMasterIdLst>
  <p:sldIdLst>
    <p:sldId xmlns:r="http://schemas.openxmlformats.org/officeDocument/2006/relationships" id="256" r:id="Rdacbc626d7a34fb5"/>
    <p:sldId xmlns:r="http://schemas.openxmlformats.org/officeDocument/2006/relationships" id="257" r:id="R6e159830702346c2"/>
    <p:sldId xmlns:r="http://schemas.openxmlformats.org/officeDocument/2006/relationships" id="258" r:id="R9f65a6abeca24694"/>
    <p:sldId xmlns:r="http://schemas.openxmlformats.org/officeDocument/2006/relationships" id="259" r:id="R58ea6f053a224fc1"/>
    <p:sldId xmlns:r="http://schemas.openxmlformats.org/officeDocument/2006/relationships" id="260" r:id="R97dbf3f51dd04e5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df6947014e3468b" /><Relationship Type="http://schemas.openxmlformats.org/officeDocument/2006/relationships/slideMaster" Target="/ppt/slideMasters/slideMaster1.xml" Id="Ra8ef4f2e2471448a" /><Relationship Type="http://schemas.openxmlformats.org/officeDocument/2006/relationships/notesMaster" Target="/ppt/notesMasters/notesMaster1.xml" Id="R91d068338fe34d26" /><Relationship Type="http://schemas.openxmlformats.org/officeDocument/2006/relationships/presProps" Target="/ppt/presProps.xml" Id="R1251c22c4a844c72" /><Relationship Type="http://schemas.openxmlformats.org/officeDocument/2006/relationships/tableStyles" Target="/ppt/tableStyles.xml" Id="Rf192884a7ca24c2e" /><Relationship Type="http://schemas.openxmlformats.org/officeDocument/2006/relationships/slide" Target="/ppt/slides/slide1.xml" Id="Rdacbc626d7a34fb5" /><Relationship Type="http://schemas.openxmlformats.org/officeDocument/2006/relationships/slide" Target="/ppt/slides/slide2.xml" Id="R6e159830702346c2" /><Relationship Type="http://schemas.openxmlformats.org/officeDocument/2006/relationships/slide" Target="/ppt/slides/slide3.xml" Id="R9f65a6abeca24694" /><Relationship Type="http://schemas.openxmlformats.org/officeDocument/2006/relationships/slide" Target="/ppt/slides/slide4.xml" Id="R58ea6f053a224fc1" /><Relationship Type="http://schemas.openxmlformats.org/officeDocument/2006/relationships/slide" Target="/ppt/slides/slide5.xml" Id="R97dbf3f51dd04e5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921c9ac50fc40e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8c02ff0e8b24716" /><Relationship Type="http://schemas.openxmlformats.org/officeDocument/2006/relationships/notesMaster" Target="/ppt/notesMasters/notesMaster1.xml" Id="Rce4fcc3132e84e4a" /></Relationships>
</file>

<file path=ppt/notesSlides/_rels/notesSlide2.xml.rels>&#65279;<?xml version="1.0" encoding="utf-8"?><Relationships xmlns="http://schemas.openxmlformats.org/package/2006/relationships"><Relationship Type="http://schemas.openxmlformats.org/officeDocument/2006/relationships/slide" Target="/ppt/slides/slide2.xml" Id="R73817830b61a4be8" /><Relationship Type="http://schemas.openxmlformats.org/officeDocument/2006/relationships/notesMaster" Target="/ppt/notesMasters/notesMaster1.xml" Id="R5734ad73eb4a49b0" /></Relationships>
</file>

<file path=ppt/notesSlides/_rels/notesSlide3.xml.rels>&#65279;<?xml version="1.0" encoding="utf-8"?><Relationships xmlns="http://schemas.openxmlformats.org/package/2006/relationships"><Relationship Type="http://schemas.openxmlformats.org/officeDocument/2006/relationships/slide" Target="/ppt/slides/slide3.xml" Id="R7952253f7b2c4218" /><Relationship Type="http://schemas.openxmlformats.org/officeDocument/2006/relationships/notesMaster" Target="/ppt/notesMasters/notesMaster1.xml" Id="R5b1f54e7c90e4cfc" /></Relationships>
</file>

<file path=ppt/notesSlides/_rels/notesSlide4.xml.rels>&#65279;<?xml version="1.0" encoding="utf-8"?><Relationships xmlns="http://schemas.openxmlformats.org/package/2006/relationships"><Relationship Type="http://schemas.openxmlformats.org/officeDocument/2006/relationships/slide" Target="/ppt/slides/slide4.xml" Id="Rb07398d1afce44a2" /><Relationship Type="http://schemas.openxmlformats.org/officeDocument/2006/relationships/notesMaster" Target="/ppt/notesMasters/notesMaster1.xml" Id="R792b73f665544684" /></Relationships>
</file>

<file path=ppt/notesSlides/_rels/notesSlide5.xml.rels>&#65279;<?xml version="1.0" encoding="utf-8"?><Relationships xmlns="http://schemas.openxmlformats.org/package/2006/relationships"><Relationship Type="http://schemas.openxmlformats.org/officeDocument/2006/relationships/slide" Target="/ppt/slides/slide5.xml" Id="R049bb08facde4f86" /><Relationship Type="http://schemas.openxmlformats.org/officeDocument/2006/relationships/notesMaster" Target="/ppt/notesMasters/notesMaster1.xml" Id="R113f5169226543a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Business problem and alignment</a:t>
            </a:r>
          </a:p>
          <a:p xmlns:a="http://schemas.openxmlformats.org/drawingml/2006/main">
            <a:r>
              <a:t/>
            </a:r>
          </a:p>
          <a:p xmlns:a="http://schemas.openxmlformats.org/drawingml/2006/main">
            <a:r>
              <a:t>The business question is capacity allocation. If a relationship manager can speak to only a limited number of prospects, the model supplies an ordered starting point. A propensity score estimates subscription patterns under historical campaign conditions. It does not establish whether a term deposit suits the customer. I connect the prototype to customer engagement and sales-oriented relationships in the campus deck. The listed business groups are indicative, and the bank retains discretion over role and location. This independent prototype has no ICICI customer data or bank deployment.</a:t>
            </a:r>
          </a:p>
          <a:p xmlns:a="http://schemas.openxmlformats.org/drawingml/2006/main">
            <a:r>
              <a:t/>
            </a:r>
          </a:p>
          <a:p xmlns:a="http://schemas.openxmlformats.org/drawingml/2006/main">
            <a:r>
              <a:t>Sources</a:t>
            </a:r>
          </a:p>
          <a:p xmlns:a="http://schemas.openxmlformats.org/drawingml/2006/main">
            <a:r>
              <a:t>UCI Bank Marketing: https://archive.ics.uci.edu/dataset/222/bank+marketing</a:t>
            </a:r>
          </a:p>
          <a:p xmlns:a="http://schemas.openxmlformats.org/drawingml/2006/main">
            <a:r>
              <a:t>User-supplied FY2027 Campus Proposition deck, slides 3, 8 and 10. The deck serves as alignment context only. No campus source PDF or ICICI logo is included in this deliverable.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Data and pipeline</a:t>
            </a:r>
          </a:p>
          <a:p xmlns:a="http://schemas.openxmlformats.org/drawingml/2006/main">
            <a:r>
              <a:t/>
            </a:r>
          </a:p>
          <a:p xmlns:a="http://schemas.openxmlformats.org/drawingml/2006/main">
            <a:r>
              <a:t>The exact UCI additional-full variant contains 41,188 observations, 20 original input fields, and the yes/no subscription target. These are campaign observations rather than verified unique customers. The source order is chronological but lacks enough information to reconstruct exact row dates. Python validates and cleans the file while retaining repeated rows. SQLite stores the reproducible record, split, model, and score tables. SQL supports descriptive segment analyses. The model receives a conservative pre-contact feature allowlist. A saved pipeline supplies scores to Streamlit. The app never retrains when a control changes. The final test records support a clearly labeled historical replay. The data cannot establish which app, email, or notification channel works best.</a:t>
            </a:r>
          </a:p>
          <a:p xmlns:a="http://schemas.openxmlformats.org/drawingml/2006/main">
            <a:r>
              <a:t/>
            </a:r>
          </a:p>
          <a:p xmlns:a="http://schemas.openxmlformats.org/drawingml/2006/main">
            <a:r>
              <a:t>Sources</a:t>
            </a:r>
          </a:p>
          <a:p xmlns:a="http://schemas.openxmlformats.org/drawingml/2006/main">
            <a:r>
              <a:t>UCI Bank Marketing: https://archive.ics.uci.edu/dataset/222/bank+marketing</a:t>
            </a:r>
          </a:p>
          <a:p xmlns:a="http://schemas.openxmlformats.org/drawingml/2006/main">
            <a:r>
              <a:t>Project artifacts: artifacts/selection.json, artifacts/metrics.json, artifacts/budget_curve.csv. Model rf-d8-l10-32e674d224. Source CSV SHA256 74adfc578bf77a7ff4bb1ba4a9f8709d9e3c6907342959c2c8416847e0afb4d8.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Leakage and evaluation</a:t>
            </a:r>
          </a:p>
          <a:p xmlns:a="http://schemas.openxmlformats.org/drawingml/2006/main">
            <a:r>
              <a:t/>
            </a:r>
          </a:p>
          <a:p xmlns:a="http://schemas.openxmlformats.org/drawingml/2006/main">
            <a:r>
              <a:t>Duration is known only after a call, so including it would leak future information. The model also excludes contact, month, day_of_week, campaign, the five macro indicators, target, and metadata. Its raw feature allowlist is age, job, marital, education, default, housing, loan, pdays, previous, and poutcome. Feature engineering handles pdays=999 as no previous contact. Numeric scaling, imputation, and encoding fit on training rows only. Four LR and four RF candidates form a bounded search, alongside a constant prior baseline. The validation rule chooses the strongest Precision@20%, uses average precision as the next tie-breaker, then prefers LR on an exact family tie. A deterministic score/ID hash policy settles tied ranks without looking at outcomes. No refit or test-driven reselection follows the freeze. PR-AUC here uses trapezoidal integration, while AP is a separate metric.</a:t>
            </a:r>
          </a:p>
          <a:p xmlns:a="http://schemas.openxmlformats.org/drawingml/2006/main">
            <a:r>
              <a:t/>
            </a:r>
          </a:p>
          <a:p xmlns:a="http://schemas.openxmlformats.org/drawingml/2006/main">
            <a:r>
              <a:t>train: 28831 rows, 1606 positives, prevalence 5.6%</a:t>
            </a:r>
          </a:p>
          <a:p xmlns:a="http://schemas.openxmlformats.org/drawingml/2006/main">
            <a:r>
              <a:t>validation: 6178 rows, 658 positives, prevalence 10.7%</a:t>
            </a:r>
          </a:p>
          <a:p xmlns:a="http://schemas.openxmlformats.org/drawingml/2006/main">
            <a:r>
              <a:t>test: 6179 rows, 2376 positives, prevalence 38.5%</a:t>
            </a:r>
          </a:p>
          <a:p xmlns:a="http://schemas.openxmlformats.org/drawingml/2006/main">
            <a:r>
              <a:t/>
            </a:r>
          </a:p>
          <a:p xmlns:a="http://schemas.openxmlformats.org/drawingml/2006/main">
            <a:r>
              <a:t>Frozen champion: Random Forest. Frozen validation score cutoff: 0.0679219814659131.</a:t>
            </a:r>
          </a:p>
          <a:p xmlns:a="http://schemas.openxmlformats.org/drawingml/2006/main">
            <a:r>
              <a:t/>
            </a:r>
          </a:p>
          <a:p xmlns:a="http://schemas.openxmlformats.org/drawingml/2006/main">
            <a:r>
              <a:t>Sources</a:t>
            </a:r>
          </a:p>
          <a:p xmlns:a="http://schemas.openxmlformats.org/drawingml/2006/main">
            <a:r>
              <a:t>UCI Bank Marketing: https://archive.ics.uci.edu/dataset/222/bank+marketing</a:t>
            </a:r>
          </a:p>
          <a:p xmlns:a="http://schemas.openxmlformats.org/drawingml/2006/main">
            <a:r>
              <a:t>Project artifacts: artifacts/selection.json, artifacts/metrics.json, artifacts/budget_curve.csv. Model rf-d8-l10-32e674d224. Source CSV SHA256 74adfc578bf77a7ff4bb1ba4a9f8709d9e3c6907342959c2c8416847e0afb4d8.</a:t>
            </a:r>
          </a:p>
          <a:p xmlns:a="http://schemas.openxmlformats.org/drawingml/2006/main">
            <a:r>
              <a:t>scikit-learn common pitfalls: https://scikit-learn.org/stable/common_pitfalls.html</a:t>
            </a:r>
          </a:p>
          <a:p xmlns:a="http://schemas.openxmlformats.org/drawingml/2006/main">
            <a:r>
              <a:t>Average precision definition: https://scikit-learn.org/stable/modules/generated/sklearn.metrics.average_precision_score.html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 Measured findings</a:t>
            </a:r>
          </a:p>
          <a:p xmlns:a="http://schemas.openxmlformats.org/drawingml/2006/main">
            <a:r>
              <a:t/>
            </a:r>
          </a:p>
          <a:p xmlns:a="http://schemas.openxmlformats.org/drawingml/2006/main">
            <a:r>
              <a:t>All displayed figures come from frozen project outputs. The champion is Random Forest, selected on validation Precision@20%=18.7% and AP=0.191. The test shortlist size is ceil(0.20 × 6179) = 1236. The champion captures 632 recorded test subscriptions. Precision is 632/1236=51.1%. Recall is 632/2376=26.6%. Lift divides shortlist precision by overall test prevalence, giving 1.33. The prior baseline assigns every row the training prevalence, so its deterministic tied shortlist can differ from the analytical random-contact expectation. The grey gain reference describes that expectation. The chart samples measured cumulative recall at 10%, 20%, 30%, 50%, 70%, and 100% capacities. The table reports trapezoidal PR-AUC and average precision separately. For a constant-score baseline, trapezoidal endpoint interpolation can inflate PR-AUC, while AP equals the evaluation prevalence. Model scores have calibration and population-shift limits. This historical ranking evaluation cannot estimate incremental conversions caused by outreach.</a:t>
            </a:r>
          </a:p>
          <a:p xmlns:a="http://schemas.openxmlformats.org/drawingml/2006/main">
            <a:r>
              <a:t/>
            </a:r>
          </a:p>
          <a:p xmlns:a="http://schemas.openxmlformats.org/drawingml/2006/main">
            <a:r>
              <a:t>Sources</a:t>
            </a:r>
          </a:p>
          <a:p xmlns:a="http://schemas.openxmlformats.org/drawingml/2006/main">
            <a:r>
              <a:t>Project artifacts: artifacts/selection.json, artifacts/metrics.json, artifacts/budget_curve.csv. Model rf-d8-l10-32e674d224. Source CSV SHA256 74adfc578bf77a7ff4bb1ba4a9f8709d9e3c6907342959c2c8416847e0afb4d8.</a:t>
            </a:r>
          </a:p>
          <a:p xmlns:a="http://schemas.openxmlformats.org/drawingml/2006/main">
            <a:r>
              <a:t>Logistic Regression achieved test Precision@20% of 60.0%, exceeding the frozen Random Forest's 51.1%. The project preserves the validation-selected Random Forest to avoid test-driven reselection. The gain chart rounds measured values to eight decimal places for portable editable chart storage.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Demo and judgment</a:t>
            </a:r>
          </a:p>
          <a:p xmlns:a="http://schemas.openxmlformats.org/drawingml/2006/main">
            <a:r>
              <a:t/>
            </a:r>
          </a:p>
          <a:p xmlns:a="http://schemas.openxmlformats.org/drawingml/2006/main">
            <a:r>
              <a:t>A five-minute demonstration opens the campaign overview, checks denominators, then shows the frozen model comparison. The outreach page labels its test pool as historical replay. Choose a capacity, inspect the simulated eligibility count, and demonstrate that a high-scoring simulated opt-out disappears from the eligible shortlist while keeping its score unchanged. Explain the difference between model score and business permission. Show one record and factual prior-contact context, then download a CSV with surrogate IDs and no y. The scoring sandbox uses only public or synthetic inputs and the same trained pipeline. A relationship manager still checks liquidity needs, risk understanding, product terms, and suitability. The system offers no automatic product recommendation. No digital-channel effectiveness claim follows from the telephone dataset. Before a real deployment, obtain fresh governed data, validated consent and suitability workflows, drift monitoring, and a prospectively designed evaluation of incremental benefit. Future real outreach requires separate authorization.</a:t>
            </a:r>
          </a:p>
          <a:p xmlns:a="http://schemas.openxmlformats.org/drawingml/2006/main">
            <a:r>
              <a:t/>
            </a:r>
          </a:p>
          <a:p xmlns:a="http://schemas.openxmlformats.org/drawingml/2006/main">
            <a:r>
              <a:t>Sources</a:t>
            </a:r>
          </a:p>
          <a:p xmlns:a="http://schemas.openxmlformats.org/drawingml/2006/main">
            <a:r>
              <a:t>UCI Bank Marketing: https://archive.ics.uci.edu/dataset/222/bank+marketing</a:t>
            </a:r>
          </a:p>
          <a:p xmlns:a="http://schemas.openxmlformats.org/drawingml/2006/main">
            <a:r>
              <a:t>Project artifacts: artifacts/selection.json, artifacts/metrics.json, artifacts/budget_curve.csv. Model rf-d8-l10-32e674d224. Source CSV SHA256 74adfc578bf77a7ff4bb1ba4a9f8709d9e3c6907342959c2c8416847e0afb4d8.</a:t>
            </a:r>
          </a:p>
          <a:p xmlns:a="http://schemas.openxmlformats.org/drawingml/2006/main">
            <a:r>
              <a:t>The engagement rules in the demo use explicitly simulated data. Public prototype, no ICICI affiliation or production deployment.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725eb4ddc1d472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cf83cd7f4e34a8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817f22a2b504a0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c21352449484b3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d1a971022e749f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3e2193022a34ea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535B755-5949-4433-992F-8544E791C01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61975BB-9A05-4A09-8D95-9643BD09036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94ED28F-3357-41C1-A8D9-4CCBBFBA1C6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B794A80-CDED-4E01-A2F7-D6E246CB864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B51F785-1C8E-4FED-B1E1-7D75DFC9E4B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33928AD-2B0C-45F9-A2E5-1488B026E6F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AE83E9D-7756-40AF-9371-31DF262601C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1F8DD4D-B760-4668-A25B-1AF587CCCBE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DD152C7-D6E2-4A18-9654-0AAB07ECBB1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C5233EE-275C-476A-A3E5-46E2AED5BCD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c0c9d5240d242df" /><Relationship Type="http://schemas.openxmlformats.org/officeDocument/2006/relationships/slideLayout" Target="/ppt/slideLayouts/slideLayout1.xml" Id="R4323595264414a9b" /><Relationship Type="http://schemas.openxmlformats.org/officeDocument/2006/relationships/slideLayout" Target="/ppt/slideLayouts/slideLayout2.xml" Id="R5367f54e82de4e5c" /><Relationship Type="http://schemas.openxmlformats.org/officeDocument/2006/relationships/slideLayout" Target="/ppt/slideLayouts/slideLayout3.xml" Id="R802239a722d74856" /><Relationship Type="http://schemas.openxmlformats.org/officeDocument/2006/relationships/slideLayout" Target="/ppt/slideLayouts/slideLayout4.xml" Id="R5d53ca0928f2482c" /><Relationship Type="http://schemas.openxmlformats.org/officeDocument/2006/relationships/slideLayout" Target="/ppt/slideLayouts/slideLayout5.xml" Id="Rdfc3b78fa60a420e" /><Relationship Type="http://schemas.openxmlformats.org/officeDocument/2006/relationships/slideLayout" Target="/ppt/slideLayouts/slideLayout6.xml" Id="Rcbd032246a2f4a2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323595264414a9b"/>
    <p:sldLayoutId xmlns:r="http://schemas.openxmlformats.org/officeDocument/2006/relationships" id="2147483650" r:id="R5367f54e82de4e5c"/>
    <p:sldLayoutId xmlns:r="http://schemas.openxmlformats.org/officeDocument/2006/relationships" id="2147483651" r:id="R802239a722d74856"/>
    <p:sldLayoutId xmlns:r="http://schemas.openxmlformats.org/officeDocument/2006/relationships" id="2147483652" r:id="R5d53ca0928f2482c"/>
    <p:sldLayoutId xmlns:r="http://schemas.openxmlformats.org/officeDocument/2006/relationships" id="2147483653" r:id="Rdfc3b78fa60a420e"/>
    <p:sldLayoutId xmlns:r="http://schemas.openxmlformats.org/officeDocument/2006/relationships" id="2147483654" r:id="Rcbd032246a2f4a2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2df6e1406d74901" /><Relationship Type="http://schemas.openxmlformats.org/officeDocument/2006/relationships/notesSlide" Target="/ppt/notesSlides/notesSlide1.xml" Id="R782faacf57c1425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b77ec59242543ef" /><Relationship Type="http://schemas.openxmlformats.org/officeDocument/2006/relationships/notesSlide" Target="/ppt/notesSlides/notesSlide2.xml" Id="Rcc7edf3a43e146a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021ba71216647f1" /><Relationship Type="http://schemas.openxmlformats.org/officeDocument/2006/relationships/notesSlide" Target="/ppt/notesSlides/notesSlide3.xml" Id="R3656a5d2c838473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c5cc9fb73694176" /><Relationship Type="http://schemas.openxmlformats.org/officeDocument/2006/relationships/chart" Target="/ppt/slides/charts/chart1.xml" Id="R6ee81791153546d9" /><Relationship Type="http://schemas.openxmlformats.org/officeDocument/2006/relationships/notesSlide" Target="/ppt/notesSlides/notesSlide4.xml" Id="R84a0c71c3a2c409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73360379a654de1" /><Relationship Type="http://schemas.openxmlformats.org/officeDocument/2006/relationships/notesSlide" Target="/ppt/notesSlides/notesSlide5.xml" Id="Reac3e91a71fd4bf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650" b="1">
                <a:solidFill>
                  <a:srgbClr val="102F45"/>
                </a:solidFill>
                <a:latin typeface="Arial"/>
                <a:ea typeface="Arial"/>
                <a:cs typeface="Arial"/>
              </a:rPr>
              <a:t>Historical subscriptions captured</a:t>
            </a:r>
          </a:p>
        </c:rich>
      </c:tx>
      <c:overlay val="0"/>
      <c:txPr>
        <a:bodyPr xmlns:a="http://schemas.openxmlformats.org/drawingml/2006/main" anchorCtr="1"/>
        <a:lstStyle xmlns:a="http://schemas.openxmlformats.org/drawingml/2006/main"/>
        <a:p xmlns:a="http://schemas.openxmlformats.org/drawingml/2006/main">
          <a:pPr>
            <a:defRPr sz="1650" b="1">
              <a:solidFill>
                <a:srgbClr val="102F45"/>
              </a:solidFill>
              <a:latin typeface="Arial"/>
              <a:ea typeface="Arial"/>
              <a:cs typeface="Arial"/>
            </a:defRPr>
          </a:pPr>
        </a:p>
      </c:txPr>
    </c:title>
    <c:plotArea>
      <c:scatterChart>
        <c:scatterStyle val="line"/>
        <c:varyColors val="0"/>
        <c:ser>
          <c:idx val="0"/>
          <c:order val="0"/>
          <c:tx>
            <c:v>Frozen champion</c:v>
          </c:tx>
          <c:spPr>
            <a:ln xmlns:a="http://schemas.openxmlformats.org/drawingml/2006/main" w="28575">
              <a:solidFill>
                <a:srgbClr val="087F8C"/>
              </a:solidFill>
            </a:ln>
          </c:spPr>
          <c:marker>
            <c:symbol val="none"/>
          </c:marker>
          <c:xVal>
            <c:numRef>
              <c:f>'Chart Data'!$A$2:$A$8</c:f>
              <c:numCache>
                <c:formatCode>General</c:formatCode>
                <c:ptCount val="7"/>
                <c:pt idx="0">
                  <c:v>0</c:v>
                </c:pt>
                <c:pt idx="1">
                  <c:v>0.1</c:v>
                </c:pt>
                <c:pt idx="2">
                  <c:v>0.2</c:v>
                </c:pt>
                <c:pt idx="3">
                  <c:v>0.3</c:v>
                </c:pt>
                <c:pt idx="4">
                  <c:v>0.5</c:v>
                </c:pt>
                <c:pt idx="5">
                  <c:v>0.7</c:v>
                </c:pt>
                <c:pt idx="6">
                  <c:v>1</c:v>
                </c:pt>
              </c:numCache>
            </c:numRef>
          </c:xVal>
          <c:yVal>
            <c:numRef>
              <c:f>'Chart Data'!$B$2:$B$8</c:f>
              <c:numCache>
                <c:formatCode>0%</c:formatCode>
                <c:ptCount val="7"/>
                <c:pt idx="0">
                  <c:v>0</c:v>
                </c:pt>
                <c:pt idx="1">
                  <c:v>0.12247475</c:v>
                </c:pt>
                <c:pt idx="2">
                  <c:v>0.26599327</c:v>
                </c:pt>
                <c:pt idx="3">
                  <c:v>0.42045455</c:v>
                </c:pt>
                <c:pt idx="4">
                  <c:v>0.61658249</c:v>
                </c:pt>
                <c:pt idx="5">
                  <c:v>0.76809764</c:v>
                </c:pt>
                <c:pt idx="6">
                  <c:v>1</c:v>
                </c:pt>
              </c:numCache>
            </c:numRef>
          </c:yVal>
        </c:ser>
        <c:ser>
          <c:idx val="1"/>
          <c:order val="1"/>
          <c:tx>
            <c:v>Random expectation</c:v>
          </c:tx>
          <c:spPr>
            <a:ln xmlns:a="http://schemas.openxmlformats.org/drawingml/2006/main" w="19050">
              <a:solidFill>
                <a:srgbClr val="94A4AD"/>
              </a:solidFill>
              <a:prstDash val="dash"/>
            </a:ln>
          </c:spPr>
          <c:marker>
            <c:symbol val="none"/>
          </c:marker>
          <c:xVal>
            <c:numRef>
              <c:f>'Chart Data'!$C$2:$C$8</c:f>
              <c:numCache>
                <c:formatCode>General</c:formatCode>
                <c:ptCount val="7"/>
                <c:pt idx="0">
                  <c:v>0</c:v>
                </c:pt>
                <c:pt idx="1">
                  <c:v>0.1</c:v>
                </c:pt>
                <c:pt idx="2">
                  <c:v>0.2</c:v>
                </c:pt>
                <c:pt idx="3">
                  <c:v>0.3</c:v>
                </c:pt>
                <c:pt idx="4">
                  <c:v>0.5</c:v>
                </c:pt>
                <c:pt idx="5">
                  <c:v>0.7</c:v>
                </c:pt>
                <c:pt idx="6">
                  <c:v>1</c:v>
                </c:pt>
              </c:numCache>
            </c:numRef>
          </c:xVal>
          <c:yVal>
            <c:numRef>
              <c:f>'Chart Data'!$D$2:$D$8</c:f>
              <c:numCache>
                <c:formatCode>0%</c:formatCode>
                <c:ptCount val="7"/>
                <c:pt idx="0">
                  <c:v>0</c:v>
                </c:pt>
                <c:pt idx="1">
                  <c:v>0.1</c:v>
                </c:pt>
                <c:pt idx="2">
                  <c:v>0.2</c:v>
                </c:pt>
                <c:pt idx="3">
                  <c:v>0.3</c:v>
                </c:pt>
                <c:pt idx="4">
                  <c:v>0.5</c:v>
                </c:pt>
                <c:pt idx="5">
                  <c:v>0.7</c:v>
                </c:pt>
                <c:pt idx="6">
                  <c:v>1</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AE1E5"/>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5B6B75"/>
                </a:solidFill>
                <a:latin typeface="Arial"/>
                <a:ea typeface="Arial"/>
                <a:cs typeface="Arial"/>
              </a:defRPr>
            </a:pPr>
          </a:p>
        </c:txPr>
        <c:crossAx val="48650112"/>
        <c:majorUnit val="0.25"/>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sz="1275">
                    <a:solidFill>
                      <a:srgbClr val="5B6B75"/>
                    </a:solidFill>
                    <a:latin typeface="Arial"/>
                    <a:ea typeface="Arial"/>
                    <a:cs typeface="Arial"/>
                  </a:rPr>
                  <a:t>Records shortlisted</a:t>
                </a:r>
              </a:p>
            </c:rich>
          </c:tx>
          <c:overlay val="0"/>
          <c:txPr>
            <a:bodyPr xmlns:a="http://schemas.openxmlformats.org/drawingml/2006/main" anchorCtr="1"/>
            <a:lstStyle xmlns:a="http://schemas.openxmlformats.org/drawingml/2006/main"/>
            <a:p xmlns:a="http://schemas.openxmlformats.org/drawingml/2006/main">
              <a:pPr>
                <a:defRPr sz="1275">
                  <a:solidFill>
                    <a:srgbClr val="5B6B75"/>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5B6B75"/>
                </a:solidFill>
                <a:latin typeface="Arial"/>
                <a:ea typeface="Arial"/>
                <a:cs typeface="Arial"/>
              </a:defRPr>
            </a:pPr>
          </a:p>
        </c:txPr>
        <c:crossAx val="48672768"/>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5B6B75"/>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41A66EF-AF41-45D8-ACF8-2FEF1C9EF424}"/>
              </a:ext>
            </a:extLst>
          </p:cNvPr>
          <p:cNvSpPr>
            <a:spLocks xmlns:a="http://schemas.openxmlformats.org/drawingml/2006/main" noGrp="1"/>
          </p:cNvSpPr>
          <p:nvPr/>
        </p:nvSpPr>
        <p:spPr>
          <a:xfrm xmlns:a="http://schemas.openxmlformats.org/drawingml/2006/main">
            <a:off x="609600" y="400050"/>
            <a:ext cx="109728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200" b="1">
                <a:solidFill>
                  <a:srgbClr val="102F45"/>
                </a:solidFill>
                <a:latin typeface="Arial"/>
                <a:ea typeface="Arial"/>
                <a:cs typeface="Arial"/>
              </a:defRPr>
            </a:defPPr>
            <a:lvl1pPr>
              <a:defRPr sz="4200" b="1">
                <a:solidFill>
                  <a:srgbClr val="102F45"/>
                </a:solidFill>
                <a:latin typeface="Arial"/>
                <a:ea typeface="Arial"/>
                <a:cs typeface="Arial"/>
              </a:defRPr>
            </a:lvl1pPr>
            <a:lvl2pPr>
              <a:defRPr sz="4200" b="1">
                <a:solidFill>
                  <a:srgbClr val="102F45"/>
                </a:solidFill>
                <a:latin typeface="Arial"/>
                <a:ea typeface="Arial"/>
                <a:cs typeface="Arial"/>
              </a:defRPr>
            </a:lvl2pPr>
            <a:lvl3pPr>
              <a:defRPr sz="4200" b="1">
                <a:solidFill>
                  <a:srgbClr val="102F45"/>
                </a:solidFill>
                <a:latin typeface="Arial"/>
                <a:ea typeface="Arial"/>
                <a:cs typeface="Arial"/>
              </a:defRPr>
            </a:lvl3pPr>
            <a:lvl4pPr>
              <a:defRPr sz="4200" b="1">
                <a:solidFill>
                  <a:srgbClr val="102F45"/>
                </a:solidFill>
                <a:latin typeface="Arial"/>
                <a:ea typeface="Arial"/>
                <a:cs typeface="Arial"/>
              </a:defRPr>
            </a:lvl4pPr>
            <a:lvl5pPr>
              <a:defRPr sz="4200" b="1">
                <a:solidFill>
                  <a:srgbClr val="102F45"/>
                </a:solidFill>
                <a:latin typeface="Arial"/>
                <a:ea typeface="Arial"/>
                <a:cs typeface="Arial"/>
              </a:defRPr>
            </a:lvl5pPr>
            <a:lvl6pPr>
              <a:defRPr sz="4200" b="1">
                <a:solidFill>
                  <a:srgbClr val="102F45"/>
                </a:solidFill>
                <a:latin typeface="Arial"/>
                <a:ea typeface="Arial"/>
                <a:cs typeface="Arial"/>
              </a:defRPr>
            </a:lvl6pPr>
            <a:lvl7pPr>
              <a:defRPr sz="4200" b="1">
                <a:solidFill>
                  <a:srgbClr val="102F45"/>
                </a:solidFill>
                <a:latin typeface="Arial"/>
                <a:ea typeface="Arial"/>
                <a:cs typeface="Arial"/>
              </a:defRPr>
            </a:lvl7pPr>
            <a:lvl8pPr>
              <a:defRPr sz="4200" b="1">
                <a:solidFill>
                  <a:srgbClr val="102F45"/>
                </a:solidFill>
                <a:latin typeface="Arial"/>
                <a:ea typeface="Arial"/>
                <a:cs typeface="Arial"/>
              </a:defRPr>
            </a:lvl8pPr>
            <a:lvl9pPr>
              <a:defRPr sz="4200" b="1">
                <a:solidFill>
                  <a:srgbClr val="102F45"/>
                </a:solidFill>
                <a:latin typeface="Arial"/>
                <a:ea typeface="Arial"/>
                <a:cs typeface="Arial"/>
              </a:defRPr>
            </a:lvl9pPr>
          </a:lstStyle>
          <a:p xmlns:a="http://schemas.openxmlformats.org/drawingml/2006/main">
            <a:pPr>
              <a:defRPr sz="4200" b="1">
                <a:solidFill>
                  <a:srgbClr val="102F45"/>
                </a:solidFill>
                <a:latin typeface="Arial"/>
                <a:ea typeface="Arial"/>
                <a:cs typeface="Arial"/>
              </a:defRPr>
            </a:pPr>
            <a:r>
              <a:rPr sz="4200" b="1">
                <a:solidFill>
                  <a:srgbClr val="102F45"/>
                </a:solidFill>
                <a:latin typeface="Arial"/>
                <a:ea typeface="Arial"/>
                <a:cs typeface="Arial"/>
              </a:rPr>
              <a:t>Banking Customer Engagement</a:t>
            </a:r>
          </a:p>
          <a:p xmlns:a="http://schemas.openxmlformats.org/drawingml/2006/main">
            <a:pPr>
              <a:defRPr sz="4200" b="1">
                <a:solidFill>
                  <a:srgbClr val="102F45"/>
                </a:solidFill>
                <a:latin typeface="Arial"/>
                <a:ea typeface="Arial"/>
                <a:cs typeface="Arial"/>
              </a:defRPr>
            </a:pPr>
            <a:r>
              <a:rPr sz="4200" b="1">
                <a:solidFill>
                  <a:srgbClr val="102F45"/>
                </a:solidFill>
                <a:latin typeface="Arial"/>
                <a:ea typeface="Arial"/>
                <a:cs typeface="Arial"/>
              </a:rPr>
              <a:t>&amp; Deposit Propensity Analytics</a:t>
            </a:r>
          </a:p>
        </p:txBody>
      </p:sp>
      <p:sp>
        <p:nvSpPr>
          <p:cNvPr id="2" name="">
            <a:extLst xmlns:a="http://schemas.openxmlformats.org/drawingml/2006/main">
              <a:ext uri="{FF2B5EF4-FFF2-40B4-BE49-F238E27FC236}">
                <a16:creationId xmlns:a16="http://schemas.microsoft.com/office/drawing/2014/main" id="{8AB4976C-2F69-46B3-831B-5CAB904C85BD}"/>
              </a:ext>
            </a:extLst>
          </p:cNvPr>
          <p:cNvSpPr>
            <a:spLocks xmlns:a="http://schemas.openxmlformats.org/drawingml/2006/main" noGrp="1"/>
          </p:cNvSpPr>
          <p:nvPr/>
        </p:nvSpPr>
        <p:spPr>
          <a:xfrm xmlns:a="http://schemas.openxmlformats.org/drawingml/2006/main">
            <a:off x="609600" y="64484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a:solidFill>
                  <a:srgbClr val="5B6B75"/>
                </a:solidFill>
                <a:latin typeface="Arial"/>
                <a:ea typeface="Arial"/>
                <a:cs typeface="Arial"/>
              </a:defRPr>
            </a:defPPr>
            <a:lvl1pPr>
              <a:defRPr sz="1275">
                <a:solidFill>
                  <a:srgbClr val="5B6B75"/>
                </a:solidFill>
                <a:latin typeface="Arial"/>
                <a:ea typeface="Arial"/>
                <a:cs typeface="Arial"/>
              </a:defRPr>
            </a:lvl1pPr>
            <a:lvl2pPr>
              <a:defRPr sz="1275">
                <a:solidFill>
                  <a:srgbClr val="5B6B75"/>
                </a:solidFill>
                <a:latin typeface="Arial"/>
                <a:ea typeface="Arial"/>
                <a:cs typeface="Arial"/>
              </a:defRPr>
            </a:lvl2pPr>
            <a:lvl3pPr>
              <a:defRPr sz="1275">
                <a:solidFill>
                  <a:srgbClr val="5B6B75"/>
                </a:solidFill>
                <a:latin typeface="Arial"/>
                <a:ea typeface="Arial"/>
                <a:cs typeface="Arial"/>
              </a:defRPr>
            </a:lvl3pPr>
            <a:lvl4pPr>
              <a:defRPr sz="1275">
                <a:solidFill>
                  <a:srgbClr val="5B6B75"/>
                </a:solidFill>
                <a:latin typeface="Arial"/>
                <a:ea typeface="Arial"/>
                <a:cs typeface="Arial"/>
              </a:defRPr>
            </a:lvl4pPr>
            <a:lvl5pPr>
              <a:defRPr sz="1275">
                <a:solidFill>
                  <a:srgbClr val="5B6B75"/>
                </a:solidFill>
                <a:latin typeface="Arial"/>
                <a:ea typeface="Arial"/>
                <a:cs typeface="Arial"/>
              </a:defRPr>
            </a:lvl5pPr>
            <a:lvl6pPr>
              <a:defRPr sz="1275">
                <a:solidFill>
                  <a:srgbClr val="5B6B75"/>
                </a:solidFill>
                <a:latin typeface="Arial"/>
                <a:ea typeface="Arial"/>
                <a:cs typeface="Arial"/>
              </a:defRPr>
            </a:lvl6pPr>
            <a:lvl7pPr>
              <a:defRPr sz="1275">
                <a:solidFill>
                  <a:srgbClr val="5B6B75"/>
                </a:solidFill>
                <a:latin typeface="Arial"/>
                <a:ea typeface="Arial"/>
                <a:cs typeface="Arial"/>
              </a:defRPr>
            </a:lvl7pPr>
            <a:lvl8pPr>
              <a:defRPr sz="1275">
                <a:solidFill>
                  <a:srgbClr val="5B6B75"/>
                </a:solidFill>
                <a:latin typeface="Arial"/>
                <a:ea typeface="Arial"/>
                <a:cs typeface="Arial"/>
              </a:defRPr>
            </a:lvl8pPr>
            <a:lvl9pPr>
              <a:defRPr sz="1275">
                <a:solidFill>
                  <a:srgbClr val="5B6B75"/>
                </a:solidFill>
                <a:latin typeface="Arial"/>
                <a:ea typeface="Arial"/>
                <a:cs typeface="Arial"/>
              </a:defRPr>
            </a:lvl9pPr>
          </a:lstStyle>
          <a:p xmlns:a="http://schemas.openxmlformats.org/drawingml/2006/main">
            <a:pPr>
              <a:defRPr sz="1275">
                <a:solidFill>
                  <a:srgbClr val="5B6B75"/>
                </a:solidFill>
                <a:latin typeface="Arial"/>
                <a:ea typeface="Arial"/>
                <a:cs typeface="Arial"/>
              </a:defRPr>
            </a:pPr>
            <a:r>
              <a:rPr sz="1275">
                <a:solidFill>
                  <a:srgbClr val="5B6B75"/>
                </a:solidFill>
                <a:latin typeface="Arial"/>
                <a:ea typeface="Arial"/>
                <a:cs typeface="Arial"/>
              </a:rPr>
              <a:t>Independent banking analytics prototype   1/5</a:t>
            </a:r>
          </a:p>
        </p:txBody>
      </p:sp>
      <p:sp>
        <p:nvSpPr>
          <p:cNvPr id="3" name="">
            <a:extLst xmlns:a="http://schemas.openxmlformats.org/drawingml/2006/main">
              <a:ext uri="{FF2B5EF4-FFF2-40B4-BE49-F238E27FC236}">
                <a16:creationId xmlns:a16="http://schemas.microsoft.com/office/drawing/2014/main" id="{FCCBAD29-A612-4166-A4F4-D306DFAC82D2}"/>
              </a:ext>
            </a:extLst>
          </p:cNvPr>
          <p:cNvSpPr>
            <a:spLocks xmlns:a="http://schemas.openxmlformats.org/drawingml/2006/main" noGrp="1"/>
          </p:cNvSpPr>
          <p:nvPr/>
        </p:nvSpPr>
        <p:spPr>
          <a:xfrm xmlns:a="http://schemas.openxmlformats.org/drawingml/2006/main">
            <a:off x="609600" y="2028825"/>
            <a:ext cx="10287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000" b="1">
                <a:solidFill>
                  <a:srgbClr val="087F8C"/>
                </a:solidFill>
                <a:latin typeface="Arial"/>
                <a:ea typeface="Arial"/>
                <a:cs typeface="Arial"/>
              </a:defRPr>
            </a:defPPr>
            <a:lvl1pPr>
              <a:defRPr sz="3000" b="1">
                <a:solidFill>
                  <a:srgbClr val="087F8C"/>
                </a:solidFill>
                <a:latin typeface="Arial"/>
                <a:ea typeface="Arial"/>
                <a:cs typeface="Arial"/>
              </a:defRPr>
            </a:lvl1pPr>
            <a:lvl2pPr>
              <a:defRPr sz="3000" b="1">
                <a:solidFill>
                  <a:srgbClr val="087F8C"/>
                </a:solidFill>
                <a:latin typeface="Arial"/>
                <a:ea typeface="Arial"/>
                <a:cs typeface="Arial"/>
              </a:defRPr>
            </a:lvl2pPr>
            <a:lvl3pPr>
              <a:defRPr sz="3000" b="1">
                <a:solidFill>
                  <a:srgbClr val="087F8C"/>
                </a:solidFill>
                <a:latin typeface="Arial"/>
                <a:ea typeface="Arial"/>
                <a:cs typeface="Arial"/>
              </a:defRPr>
            </a:lvl3pPr>
            <a:lvl4pPr>
              <a:defRPr sz="3000" b="1">
                <a:solidFill>
                  <a:srgbClr val="087F8C"/>
                </a:solidFill>
                <a:latin typeface="Arial"/>
                <a:ea typeface="Arial"/>
                <a:cs typeface="Arial"/>
              </a:defRPr>
            </a:lvl4pPr>
            <a:lvl5pPr>
              <a:defRPr sz="3000" b="1">
                <a:solidFill>
                  <a:srgbClr val="087F8C"/>
                </a:solidFill>
                <a:latin typeface="Arial"/>
                <a:ea typeface="Arial"/>
                <a:cs typeface="Arial"/>
              </a:defRPr>
            </a:lvl5pPr>
            <a:lvl6pPr>
              <a:defRPr sz="3000" b="1">
                <a:solidFill>
                  <a:srgbClr val="087F8C"/>
                </a:solidFill>
                <a:latin typeface="Arial"/>
                <a:ea typeface="Arial"/>
                <a:cs typeface="Arial"/>
              </a:defRPr>
            </a:lvl6pPr>
            <a:lvl7pPr>
              <a:defRPr sz="3000" b="1">
                <a:solidFill>
                  <a:srgbClr val="087F8C"/>
                </a:solidFill>
                <a:latin typeface="Arial"/>
                <a:ea typeface="Arial"/>
                <a:cs typeface="Arial"/>
              </a:defRPr>
            </a:lvl7pPr>
            <a:lvl8pPr>
              <a:defRPr sz="3000" b="1">
                <a:solidFill>
                  <a:srgbClr val="087F8C"/>
                </a:solidFill>
                <a:latin typeface="Arial"/>
                <a:ea typeface="Arial"/>
                <a:cs typeface="Arial"/>
              </a:defRPr>
            </a:lvl8pPr>
            <a:lvl9pPr>
              <a:defRPr sz="3000" b="1">
                <a:solidFill>
                  <a:srgbClr val="087F8C"/>
                </a:solidFill>
                <a:latin typeface="Arial"/>
                <a:ea typeface="Arial"/>
                <a:cs typeface="Arial"/>
              </a:defRPr>
            </a:lvl9pPr>
          </a:lstStyle>
          <a:p xmlns:a="http://schemas.openxmlformats.org/drawingml/2006/main">
            <a:pPr>
              <a:defRPr sz="3000" b="1">
                <a:solidFill>
                  <a:srgbClr val="087F8C"/>
                </a:solidFill>
                <a:latin typeface="Arial"/>
                <a:ea typeface="Arial"/>
                <a:cs typeface="Arial"/>
              </a:defRPr>
            </a:pPr>
            <a:r>
              <a:rPr sz="3000" b="1">
                <a:solidFill>
                  <a:srgbClr val="087F8C"/>
                </a:solidFill>
                <a:latin typeface="Arial"/>
                <a:ea typeface="Arial"/>
                <a:cs typeface="Arial"/>
              </a:rPr>
              <a:t>Which prospects deserve the next</a:t>
            </a:r>
          </a:p>
          <a:p xmlns:a="http://schemas.openxmlformats.org/drawingml/2006/main">
            <a:pPr>
              <a:defRPr sz="3000" b="1">
                <a:solidFill>
                  <a:srgbClr val="087F8C"/>
                </a:solidFill>
                <a:latin typeface="Arial"/>
                <a:ea typeface="Arial"/>
                <a:cs typeface="Arial"/>
              </a:defRPr>
            </a:pPr>
            <a:r>
              <a:rPr sz="3000" b="1">
                <a:solidFill>
                  <a:srgbClr val="087F8C"/>
                </a:solidFill>
                <a:latin typeface="Arial"/>
                <a:ea typeface="Arial"/>
                <a:cs typeface="Arial"/>
              </a:rPr>
              <a:t>term-deposit conversation?</a:t>
            </a:r>
          </a:p>
        </p:txBody>
      </p:sp>
      <p:sp>
        <p:nvSpPr>
          <p:cNvPr id="4" name="">
            <a:extLst xmlns:a="http://schemas.openxmlformats.org/drawingml/2006/main">
              <a:ext uri="{FF2B5EF4-FFF2-40B4-BE49-F238E27FC236}">
                <a16:creationId xmlns:a16="http://schemas.microsoft.com/office/drawing/2014/main" id="{B1E57442-53D7-4C0B-8C90-026F47B47541}"/>
              </a:ext>
            </a:extLst>
          </p:cNvPr>
          <p:cNvSpPr>
            <a:spLocks xmlns:a="http://schemas.openxmlformats.org/drawingml/2006/main" noGrp="1"/>
          </p:cNvSpPr>
          <p:nvPr/>
        </p:nvSpPr>
        <p:spPr>
          <a:xfrm xmlns:a="http://schemas.openxmlformats.org/drawingml/2006/main">
            <a:off x="609600" y="3314700"/>
            <a:ext cx="1028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a:solidFill>
                  <a:srgbClr val="152F40"/>
                </a:solidFill>
                <a:latin typeface="Arial"/>
                <a:ea typeface="Arial"/>
                <a:cs typeface="Arial"/>
              </a:defRPr>
            </a:defPPr>
            <a:lvl1pPr>
              <a:defRPr sz="2175">
                <a:solidFill>
                  <a:srgbClr val="152F40"/>
                </a:solidFill>
                <a:latin typeface="Arial"/>
                <a:ea typeface="Arial"/>
                <a:cs typeface="Arial"/>
              </a:defRPr>
            </a:lvl1pPr>
            <a:lvl2pPr>
              <a:defRPr sz="2175">
                <a:solidFill>
                  <a:srgbClr val="152F40"/>
                </a:solidFill>
                <a:latin typeface="Arial"/>
                <a:ea typeface="Arial"/>
                <a:cs typeface="Arial"/>
              </a:defRPr>
            </a:lvl2pPr>
            <a:lvl3pPr>
              <a:defRPr sz="2175">
                <a:solidFill>
                  <a:srgbClr val="152F40"/>
                </a:solidFill>
                <a:latin typeface="Arial"/>
                <a:ea typeface="Arial"/>
                <a:cs typeface="Arial"/>
              </a:defRPr>
            </a:lvl3pPr>
            <a:lvl4pPr>
              <a:defRPr sz="2175">
                <a:solidFill>
                  <a:srgbClr val="152F40"/>
                </a:solidFill>
                <a:latin typeface="Arial"/>
                <a:ea typeface="Arial"/>
                <a:cs typeface="Arial"/>
              </a:defRPr>
            </a:lvl4pPr>
            <a:lvl5pPr>
              <a:defRPr sz="2175">
                <a:solidFill>
                  <a:srgbClr val="152F40"/>
                </a:solidFill>
                <a:latin typeface="Arial"/>
                <a:ea typeface="Arial"/>
                <a:cs typeface="Arial"/>
              </a:defRPr>
            </a:lvl5pPr>
            <a:lvl6pPr>
              <a:defRPr sz="2175">
                <a:solidFill>
                  <a:srgbClr val="152F40"/>
                </a:solidFill>
                <a:latin typeface="Arial"/>
                <a:ea typeface="Arial"/>
                <a:cs typeface="Arial"/>
              </a:defRPr>
            </a:lvl6pPr>
            <a:lvl7pPr>
              <a:defRPr sz="2175">
                <a:solidFill>
                  <a:srgbClr val="152F40"/>
                </a:solidFill>
                <a:latin typeface="Arial"/>
                <a:ea typeface="Arial"/>
                <a:cs typeface="Arial"/>
              </a:defRPr>
            </a:lvl7pPr>
            <a:lvl8pPr>
              <a:defRPr sz="2175">
                <a:solidFill>
                  <a:srgbClr val="152F40"/>
                </a:solidFill>
                <a:latin typeface="Arial"/>
                <a:ea typeface="Arial"/>
                <a:cs typeface="Arial"/>
              </a:defRPr>
            </a:lvl8pPr>
            <a:lvl9pPr>
              <a:defRPr sz="2175">
                <a:solidFill>
                  <a:srgbClr val="152F40"/>
                </a:solidFill>
                <a:latin typeface="Arial"/>
                <a:ea typeface="Arial"/>
                <a:cs typeface="Arial"/>
              </a:defRPr>
            </a:lvl9pPr>
          </a:lstStyle>
          <a:p xmlns:a="http://schemas.openxmlformats.org/drawingml/2006/main">
            <a:pPr>
              <a:defRPr sz="2175">
                <a:solidFill>
                  <a:srgbClr val="152F40"/>
                </a:solidFill>
                <a:latin typeface="Arial"/>
                <a:ea typeface="Arial"/>
                <a:cs typeface="Arial"/>
              </a:defRPr>
            </a:pPr>
            <a:r>
              <a:rPr sz="2175">
                <a:solidFill>
                  <a:srgbClr val="152F40"/>
                </a:solidFill>
                <a:latin typeface="Arial"/>
                <a:ea typeface="Arial"/>
                <a:cs typeface="Arial"/>
              </a:rPr>
              <a:t>Limited outreach capacity makes prioritization useful.</a:t>
            </a:r>
          </a:p>
          <a:p xmlns:a="http://schemas.openxmlformats.org/drawingml/2006/main">
            <a:pPr>
              <a:defRPr sz="2175">
                <a:solidFill>
                  <a:srgbClr val="152F40"/>
                </a:solidFill>
                <a:latin typeface="Arial"/>
                <a:ea typeface="Arial"/>
                <a:cs typeface="Arial"/>
              </a:defRPr>
            </a:pPr>
            <a:r>
              <a:rPr sz="2175">
                <a:solidFill>
                  <a:srgbClr val="152F40"/>
                </a:solidFill>
                <a:latin typeface="Arial"/>
                <a:ea typeface="Arial"/>
                <a:cs typeface="Arial"/>
              </a:rPr>
              <a:t>The system ranks historical records by subscription score.</a:t>
            </a:r>
          </a:p>
        </p:txBody>
      </p:sp>
      <p:sp>
        <p:nvSpPr>
          <p:cNvPr id="5" name="">
            <a:extLst xmlns:a="http://schemas.openxmlformats.org/drawingml/2006/main">
              <a:ext uri="{FF2B5EF4-FFF2-40B4-BE49-F238E27FC236}">
                <a16:creationId xmlns:a16="http://schemas.microsoft.com/office/drawing/2014/main" id="{1C293451-191D-4B01-87DE-D9839E5D6ECC}"/>
              </a:ext>
            </a:extLst>
          </p:cNvPr>
          <p:cNvSpPr>
            <a:spLocks xmlns:a="http://schemas.openxmlformats.org/drawingml/2006/main" noGrp="1"/>
          </p:cNvSpPr>
          <p:nvPr/>
        </p:nvSpPr>
        <p:spPr>
          <a:xfrm xmlns:a="http://schemas.openxmlformats.org/drawingml/2006/main">
            <a:off x="609600" y="4533900"/>
            <a:ext cx="447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102F45"/>
                </a:solidFill>
                <a:latin typeface="Arial"/>
                <a:ea typeface="Arial"/>
                <a:cs typeface="Arial"/>
              </a:defRPr>
            </a:defPPr>
            <a:lvl1pPr>
              <a:defRPr sz="1950" b="1">
                <a:solidFill>
                  <a:srgbClr val="102F45"/>
                </a:solidFill>
                <a:latin typeface="Arial"/>
                <a:ea typeface="Arial"/>
                <a:cs typeface="Arial"/>
              </a:defRPr>
            </a:lvl1pPr>
            <a:lvl2pPr>
              <a:defRPr sz="1950" b="1">
                <a:solidFill>
                  <a:srgbClr val="102F45"/>
                </a:solidFill>
                <a:latin typeface="Arial"/>
                <a:ea typeface="Arial"/>
                <a:cs typeface="Arial"/>
              </a:defRPr>
            </a:lvl2pPr>
            <a:lvl3pPr>
              <a:defRPr sz="1950" b="1">
                <a:solidFill>
                  <a:srgbClr val="102F45"/>
                </a:solidFill>
                <a:latin typeface="Arial"/>
                <a:ea typeface="Arial"/>
                <a:cs typeface="Arial"/>
              </a:defRPr>
            </a:lvl3pPr>
            <a:lvl4pPr>
              <a:defRPr sz="1950" b="1">
                <a:solidFill>
                  <a:srgbClr val="102F45"/>
                </a:solidFill>
                <a:latin typeface="Arial"/>
                <a:ea typeface="Arial"/>
                <a:cs typeface="Arial"/>
              </a:defRPr>
            </a:lvl4pPr>
            <a:lvl5pPr>
              <a:defRPr sz="1950" b="1">
                <a:solidFill>
                  <a:srgbClr val="102F45"/>
                </a:solidFill>
                <a:latin typeface="Arial"/>
                <a:ea typeface="Arial"/>
                <a:cs typeface="Arial"/>
              </a:defRPr>
            </a:lvl5pPr>
            <a:lvl6pPr>
              <a:defRPr sz="1950" b="1">
                <a:solidFill>
                  <a:srgbClr val="102F45"/>
                </a:solidFill>
                <a:latin typeface="Arial"/>
                <a:ea typeface="Arial"/>
                <a:cs typeface="Arial"/>
              </a:defRPr>
            </a:lvl6pPr>
            <a:lvl7pPr>
              <a:defRPr sz="1950" b="1">
                <a:solidFill>
                  <a:srgbClr val="102F45"/>
                </a:solidFill>
                <a:latin typeface="Arial"/>
                <a:ea typeface="Arial"/>
                <a:cs typeface="Arial"/>
              </a:defRPr>
            </a:lvl7pPr>
            <a:lvl8pPr>
              <a:defRPr sz="1950" b="1">
                <a:solidFill>
                  <a:srgbClr val="102F45"/>
                </a:solidFill>
                <a:latin typeface="Arial"/>
                <a:ea typeface="Arial"/>
                <a:cs typeface="Arial"/>
              </a:defRPr>
            </a:lvl8pPr>
            <a:lvl9pPr>
              <a:defRPr sz="1950" b="1">
                <a:solidFill>
                  <a:srgbClr val="102F45"/>
                </a:solidFill>
                <a:latin typeface="Arial"/>
                <a:ea typeface="Arial"/>
                <a:cs typeface="Arial"/>
              </a:defRPr>
            </a:lvl9pPr>
          </a:lstStyle>
          <a:p xmlns:a="http://schemas.openxmlformats.org/drawingml/2006/main">
            <a:pPr>
              <a:defRPr sz="1950" b="1">
                <a:solidFill>
                  <a:srgbClr val="102F45"/>
                </a:solidFill>
                <a:latin typeface="Arial"/>
                <a:ea typeface="Arial"/>
                <a:cs typeface="Arial"/>
              </a:defRPr>
            </a:pPr>
            <a:r>
              <a:rPr sz="1950" b="1">
                <a:solidFill>
                  <a:srgbClr val="102F45"/>
                </a:solidFill>
                <a:latin typeface="Arial"/>
                <a:ea typeface="Arial"/>
                <a:cs typeface="Arial"/>
              </a:rPr>
              <a:t>Campus deck connection</a:t>
            </a:r>
          </a:p>
        </p:txBody>
      </p:sp>
      <p:sp>
        <p:nvSpPr>
          <p:cNvPr id="6" name="">
            <a:extLst xmlns:a="http://schemas.openxmlformats.org/drawingml/2006/main">
              <a:ext uri="{FF2B5EF4-FFF2-40B4-BE49-F238E27FC236}">
                <a16:creationId xmlns:a16="http://schemas.microsoft.com/office/drawing/2014/main" id="{246B153B-1765-44A3-BEFD-4D1C67D6EEEB}"/>
              </a:ext>
            </a:extLst>
          </p:cNvPr>
          <p:cNvSpPr>
            <a:spLocks xmlns:a="http://schemas.openxmlformats.org/drawingml/2006/main" noGrp="1"/>
          </p:cNvSpPr>
          <p:nvPr/>
        </p:nvSpPr>
        <p:spPr>
          <a:xfrm xmlns:a="http://schemas.openxmlformats.org/drawingml/2006/main">
            <a:off x="609600" y="4972050"/>
            <a:ext cx="5429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a:solidFill>
                  <a:srgbClr val="152F40"/>
                </a:solidFill>
                <a:latin typeface="Arial"/>
                <a:ea typeface="Arial"/>
                <a:cs typeface="Arial"/>
              </a:defRPr>
            </a:defPPr>
            <a:lvl1pPr>
              <a:defRPr sz="1950">
                <a:solidFill>
                  <a:srgbClr val="152F40"/>
                </a:solidFill>
                <a:latin typeface="Arial"/>
                <a:ea typeface="Arial"/>
                <a:cs typeface="Arial"/>
              </a:defRPr>
            </a:lvl1pPr>
            <a:lvl2pPr>
              <a:defRPr sz="1950">
                <a:solidFill>
                  <a:srgbClr val="152F40"/>
                </a:solidFill>
                <a:latin typeface="Arial"/>
                <a:ea typeface="Arial"/>
                <a:cs typeface="Arial"/>
              </a:defRPr>
            </a:lvl2pPr>
            <a:lvl3pPr>
              <a:defRPr sz="1950">
                <a:solidFill>
                  <a:srgbClr val="152F40"/>
                </a:solidFill>
                <a:latin typeface="Arial"/>
                <a:ea typeface="Arial"/>
                <a:cs typeface="Arial"/>
              </a:defRPr>
            </a:lvl3pPr>
            <a:lvl4pPr>
              <a:defRPr sz="1950">
                <a:solidFill>
                  <a:srgbClr val="152F40"/>
                </a:solidFill>
                <a:latin typeface="Arial"/>
                <a:ea typeface="Arial"/>
                <a:cs typeface="Arial"/>
              </a:defRPr>
            </a:lvl4pPr>
            <a:lvl5pPr>
              <a:defRPr sz="1950">
                <a:solidFill>
                  <a:srgbClr val="152F40"/>
                </a:solidFill>
                <a:latin typeface="Arial"/>
                <a:ea typeface="Arial"/>
                <a:cs typeface="Arial"/>
              </a:defRPr>
            </a:lvl5pPr>
            <a:lvl6pPr>
              <a:defRPr sz="1950">
                <a:solidFill>
                  <a:srgbClr val="152F40"/>
                </a:solidFill>
                <a:latin typeface="Arial"/>
                <a:ea typeface="Arial"/>
                <a:cs typeface="Arial"/>
              </a:defRPr>
            </a:lvl6pPr>
            <a:lvl7pPr>
              <a:defRPr sz="1950">
                <a:solidFill>
                  <a:srgbClr val="152F40"/>
                </a:solidFill>
                <a:latin typeface="Arial"/>
                <a:ea typeface="Arial"/>
                <a:cs typeface="Arial"/>
              </a:defRPr>
            </a:lvl7pPr>
            <a:lvl8pPr>
              <a:defRPr sz="1950">
                <a:solidFill>
                  <a:srgbClr val="152F40"/>
                </a:solidFill>
                <a:latin typeface="Arial"/>
                <a:ea typeface="Arial"/>
                <a:cs typeface="Arial"/>
              </a:defRPr>
            </a:lvl8pPr>
            <a:lvl9pPr>
              <a:defRPr sz="1950">
                <a:solidFill>
                  <a:srgbClr val="152F40"/>
                </a:solidFill>
                <a:latin typeface="Arial"/>
                <a:ea typeface="Arial"/>
                <a:cs typeface="Arial"/>
              </a:defRPr>
            </a:lvl9pPr>
          </a:lstStyle>
          <a:p xmlns:a="http://schemas.openxmlformats.org/drawingml/2006/main">
            <a:pPr>
              <a:defRPr sz="1950">
                <a:solidFill>
                  <a:srgbClr val="152F40"/>
                </a:solidFill>
                <a:latin typeface="Arial"/>
                <a:ea typeface="Arial"/>
                <a:cs typeface="Arial"/>
              </a:defRPr>
            </a:pPr>
            <a:r>
              <a:rPr sz="1950">
                <a:solidFill>
                  <a:srgbClr val="152F40"/>
                </a:solidFill>
                <a:latin typeface="Arial"/>
                <a:ea typeface="Arial"/>
                <a:cs typeface="Arial"/>
              </a:rPr>
              <a:t>Customer engagement, Customer 360,</a:t>
            </a:r>
          </a:p>
          <a:p xmlns:a="http://schemas.openxmlformats.org/drawingml/2006/main">
            <a:pPr>
              <a:defRPr sz="1950">
                <a:solidFill>
                  <a:srgbClr val="152F40"/>
                </a:solidFill>
                <a:latin typeface="Arial"/>
                <a:ea typeface="Arial"/>
                <a:cs typeface="Arial"/>
              </a:defRPr>
            </a:pPr>
            <a:r>
              <a:rPr sz="1950">
                <a:solidFill>
                  <a:srgbClr val="152F40"/>
                </a:solidFill>
                <a:latin typeface="Arial"/>
                <a:ea typeface="Arial"/>
                <a:cs typeface="Arial"/>
              </a:rPr>
              <a:t>and sales-oriented relationships</a:t>
            </a:r>
          </a:p>
        </p:txBody>
      </p:sp>
      <p:sp>
        <p:nvSpPr>
          <p:cNvPr id="7" name="">
            <a:extLst xmlns:a="http://schemas.openxmlformats.org/drawingml/2006/main">
              <a:ext uri="{FF2B5EF4-FFF2-40B4-BE49-F238E27FC236}">
                <a16:creationId xmlns:a16="http://schemas.microsoft.com/office/drawing/2014/main" id="{DE48F570-ADCE-457D-B31A-55C7B08EBC77}"/>
              </a:ext>
            </a:extLst>
          </p:cNvPr>
          <p:cNvSpPr>
            <a:spLocks xmlns:a="http://schemas.openxmlformats.org/drawingml/2006/main" noGrp="1"/>
          </p:cNvSpPr>
          <p:nvPr/>
        </p:nvSpPr>
        <p:spPr>
          <a:xfrm xmlns:a="http://schemas.openxmlformats.org/drawingml/2006/main">
            <a:off x="6819900" y="4533900"/>
            <a:ext cx="447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102F45"/>
                </a:solidFill>
                <a:latin typeface="Arial"/>
                <a:ea typeface="Arial"/>
                <a:cs typeface="Arial"/>
              </a:defRPr>
            </a:defPPr>
            <a:lvl1pPr>
              <a:defRPr sz="1950" b="1">
                <a:solidFill>
                  <a:srgbClr val="102F45"/>
                </a:solidFill>
                <a:latin typeface="Arial"/>
                <a:ea typeface="Arial"/>
                <a:cs typeface="Arial"/>
              </a:defRPr>
            </a:lvl1pPr>
            <a:lvl2pPr>
              <a:defRPr sz="1950" b="1">
                <a:solidFill>
                  <a:srgbClr val="102F45"/>
                </a:solidFill>
                <a:latin typeface="Arial"/>
                <a:ea typeface="Arial"/>
                <a:cs typeface="Arial"/>
              </a:defRPr>
            </a:lvl2pPr>
            <a:lvl3pPr>
              <a:defRPr sz="1950" b="1">
                <a:solidFill>
                  <a:srgbClr val="102F45"/>
                </a:solidFill>
                <a:latin typeface="Arial"/>
                <a:ea typeface="Arial"/>
                <a:cs typeface="Arial"/>
              </a:defRPr>
            </a:lvl3pPr>
            <a:lvl4pPr>
              <a:defRPr sz="1950" b="1">
                <a:solidFill>
                  <a:srgbClr val="102F45"/>
                </a:solidFill>
                <a:latin typeface="Arial"/>
                <a:ea typeface="Arial"/>
                <a:cs typeface="Arial"/>
              </a:defRPr>
            </a:lvl4pPr>
            <a:lvl5pPr>
              <a:defRPr sz="1950" b="1">
                <a:solidFill>
                  <a:srgbClr val="102F45"/>
                </a:solidFill>
                <a:latin typeface="Arial"/>
                <a:ea typeface="Arial"/>
                <a:cs typeface="Arial"/>
              </a:defRPr>
            </a:lvl5pPr>
            <a:lvl6pPr>
              <a:defRPr sz="1950" b="1">
                <a:solidFill>
                  <a:srgbClr val="102F45"/>
                </a:solidFill>
                <a:latin typeface="Arial"/>
                <a:ea typeface="Arial"/>
                <a:cs typeface="Arial"/>
              </a:defRPr>
            </a:lvl6pPr>
            <a:lvl7pPr>
              <a:defRPr sz="1950" b="1">
                <a:solidFill>
                  <a:srgbClr val="102F45"/>
                </a:solidFill>
                <a:latin typeface="Arial"/>
                <a:ea typeface="Arial"/>
                <a:cs typeface="Arial"/>
              </a:defRPr>
            </a:lvl7pPr>
            <a:lvl8pPr>
              <a:defRPr sz="1950" b="1">
                <a:solidFill>
                  <a:srgbClr val="102F45"/>
                </a:solidFill>
                <a:latin typeface="Arial"/>
                <a:ea typeface="Arial"/>
                <a:cs typeface="Arial"/>
              </a:defRPr>
            </a:lvl8pPr>
            <a:lvl9pPr>
              <a:defRPr sz="1950" b="1">
                <a:solidFill>
                  <a:srgbClr val="102F45"/>
                </a:solidFill>
                <a:latin typeface="Arial"/>
                <a:ea typeface="Arial"/>
                <a:cs typeface="Arial"/>
              </a:defRPr>
            </a:lvl9pPr>
          </a:lstStyle>
          <a:p xmlns:a="http://schemas.openxmlformats.org/drawingml/2006/main">
            <a:pPr>
              <a:defRPr sz="1950" b="1">
                <a:solidFill>
                  <a:srgbClr val="102F45"/>
                </a:solidFill>
                <a:latin typeface="Arial"/>
                <a:ea typeface="Arial"/>
                <a:cs typeface="Arial"/>
              </a:defRPr>
            </a:pPr>
            <a:r>
              <a:rPr sz="1950" b="1">
                <a:solidFill>
                  <a:srgbClr val="102F45"/>
                </a:solidFill>
                <a:latin typeface="Arial"/>
                <a:ea typeface="Arial"/>
                <a:cs typeface="Arial"/>
              </a:rPr>
              <a:t>Human decision</a:t>
            </a:r>
          </a:p>
        </p:txBody>
      </p:sp>
      <p:sp>
        <p:nvSpPr>
          <p:cNvPr id="8" name="">
            <a:extLst xmlns:a="http://schemas.openxmlformats.org/drawingml/2006/main">
              <a:ext uri="{FF2B5EF4-FFF2-40B4-BE49-F238E27FC236}">
                <a16:creationId xmlns:a16="http://schemas.microsoft.com/office/drawing/2014/main" id="{C3111460-DE8D-4D16-BFF7-0126ACD8CDDD}"/>
              </a:ext>
            </a:extLst>
          </p:cNvPr>
          <p:cNvSpPr>
            <a:spLocks xmlns:a="http://schemas.openxmlformats.org/drawingml/2006/main" noGrp="1"/>
          </p:cNvSpPr>
          <p:nvPr/>
        </p:nvSpPr>
        <p:spPr>
          <a:xfrm xmlns:a="http://schemas.openxmlformats.org/drawingml/2006/main">
            <a:off x="6819900" y="4972050"/>
            <a:ext cx="4762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a:solidFill>
                  <a:srgbClr val="152F40"/>
                </a:solidFill>
                <a:latin typeface="Arial"/>
                <a:ea typeface="Arial"/>
                <a:cs typeface="Arial"/>
              </a:defRPr>
            </a:defPPr>
            <a:lvl1pPr>
              <a:defRPr sz="1950">
                <a:solidFill>
                  <a:srgbClr val="152F40"/>
                </a:solidFill>
                <a:latin typeface="Arial"/>
                <a:ea typeface="Arial"/>
                <a:cs typeface="Arial"/>
              </a:defRPr>
            </a:lvl1pPr>
            <a:lvl2pPr>
              <a:defRPr sz="1950">
                <a:solidFill>
                  <a:srgbClr val="152F40"/>
                </a:solidFill>
                <a:latin typeface="Arial"/>
                <a:ea typeface="Arial"/>
                <a:cs typeface="Arial"/>
              </a:defRPr>
            </a:lvl2pPr>
            <a:lvl3pPr>
              <a:defRPr sz="1950">
                <a:solidFill>
                  <a:srgbClr val="152F40"/>
                </a:solidFill>
                <a:latin typeface="Arial"/>
                <a:ea typeface="Arial"/>
                <a:cs typeface="Arial"/>
              </a:defRPr>
            </a:lvl3pPr>
            <a:lvl4pPr>
              <a:defRPr sz="1950">
                <a:solidFill>
                  <a:srgbClr val="152F40"/>
                </a:solidFill>
                <a:latin typeface="Arial"/>
                <a:ea typeface="Arial"/>
                <a:cs typeface="Arial"/>
              </a:defRPr>
            </a:lvl4pPr>
            <a:lvl5pPr>
              <a:defRPr sz="1950">
                <a:solidFill>
                  <a:srgbClr val="152F40"/>
                </a:solidFill>
                <a:latin typeface="Arial"/>
                <a:ea typeface="Arial"/>
                <a:cs typeface="Arial"/>
              </a:defRPr>
            </a:lvl5pPr>
            <a:lvl6pPr>
              <a:defRPr sz="1950">
                <a:solidFill>
                  <a:srgbClr val="152F40"/>
                </a:solidFill>
                <a:latin typeface="Arial"/>
                <a:ea typeface="Arial"/>
                <a:cs typeface="Arial"/>
              </a:defRPr>
            </a:lvl6pPr>
            <a:lvl7pPr>
              <a:defRPr sz="1950">
                <a:solidFill>
                  <a:srgbClr val="152F40"/>
                </a:solidFill>
                <a:latin typeface="Arial"/>
                <a:ea typeface="Arial"/>
                <a:cs typeface="Arial"/>
              </a:defRPr>
            </a:lvl7pPr>
            <a:lvl8pPr>
              <a:defRPr sz="1950">
                <a:solidFill>
                  <a:srgbClr val="152F40"/>
                </a:solidFill>
                <a:latin typeface="Arial"/>
                <a:ea typeface="Arial"/>
                <a:cs typeface="Arial"/>
              </a:defRPr>
            </a:lvl8pPr>
            <a:lvl9pPr>
              <a:defRPr sz="1950">
                <a:solidFill>
                  <a:srgbClr val="152F40"/>
                </a:solidFill>
                <a:latin typeface="Arial"/>
                <a:ea typeface="Arial"/>
                <a:cs typeface="Arial"/>
              </a:defRPr>
            </a:lvl9pPr>
          </a:lstStyle>
          <a:p xmlns:a="http://schemas.openxmlformats.org/drawingml/2006/main">
            <a:pPr>
              <a:defRPr sz="1950">
                <a:solidFill>
                  <a:srgbClr val="152F40"/>
                </a:solidFill>
                <a:latin typeface="Arial"/>
                <a:ea typeface="Arial"/>
                <a:cs typeface="Arial"/>
              </a:defRPr>
            </a:pPr>
            <a:r>
              <a:rPr sz="1950">
                <a:solidFill>
                  <a:srgbClr val="152F40"/>
                </a:solidFill>
                <a:latin typeface="Arial"/>
                <a:ea typeface="Arial"/>
                <a:cs typeface="Arial"/>
              </a:rPr>
              <a:t>The relationship manager checks customer</a:t>
            </a:r>
          </a:p>
          <a:p xmlns:a="http://schemas.openxmlformats.org/drawingml/2006/main">
            <a:pPr>
              <a:defRPr sz="1950">
                <a:solidFill>
                  <a:srgbClr val="152F40"/>
                </a:solidFill>
                <a:latin typeface="Arial"/>
                <a:ea typeface="Arial"/>
                <a:cs typeface="Arial"/>
              </a:defRPr>
            </a:pPr>
            <a:r>
              <a:rPr sz="1950">
                <a:solidFill>
                  <a:srgbClr val="152F40"/>
                </a:solidFill>
                <a:latin typeface="Arial"/>
                <a:ea typeface="Arial"/>
                <a:cs typeface="Arial"/>
              </a:rPr>
              <a:t>needs and product suitability.</a:t>
            </a:r>
          </a:p>
        </p:txBody>
      </p:sp>
    </p:spTree>
    <p:extLst>
      <p:ext uri="{BB962C8B-B14F-4D97-AF65-F5344CB8AC3E}">
        <p14:creationId xmlns:p14="http://schemas.microsoft.com/office/powerpoint/2010/main" val="142701956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E639B3C-E74D-402B-859B-474465B4D5D8}"/>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02F45"/>
                </a:solidFill>
                <a:latin typeface="Arial"/>
                <a:ea typeface="Arial"/>
                <a:cs typeface="Arial"/>
              </a:defRPr>
            </a:defPPr>
            <a:lvl1pPr>
              <a:defRPr sz="3225" b="1">
                <a:solidFill>
                  <a:srgbClr val="102F45"/>
                </a:solidFill>
                <a:latin typeface="Arial"/>
                <a:ea typeface="Arial"/>
                <a:cs typeface="Arial"/>
              </a:defRPr>
            </a:lvl1pPr>
            <a:lvl2pPr>
              <a:defRPr sz="3225" b="1">
                <a:solidFill>
                  <a:srgbClr val="102F45"/>
                </a:solidFill>
                <a:latin typeface="Arial"/>
                <a:ea typeface="Arial"/>
                <a:cs typeface="Arial"/>
              </a:defRPr>
            </a:lvl2pPr>
            <a:lvl3pPr>
              <a:defRPr sz="3225" b="1">
                <a:solidFill>
                  <a:srgbClr val="102F45"/>
                </a:solidFill>
                <a:latin typeface="Arial"/>
                <a:ea typeface="Arial"/>
                <a:cs typeface="Arial"/>
              </a:defRPr>
            </a:lvl3pPr>
            <a:lvl4pPr>
              <a:defRPr sz="3225" b="1">
                <a:solidFill>
                  <a:srgbClr val="102F45"/>
                </a:solidFill>
                <a:latin typeface="Arial"/>
                <a:ea typeface="Arial"/>
                <a:cs typeface="Arial"/>
              </a:defRPr>
            </a:lvl4pPr>
            <a:lvl5pPr>
              <a:defRPr sz="3225" b="1">
                <a:solidFill>
                  <a:srgbClr val="102F45"/>
                </a:solidFill>
                <a:latin typeface="Arial"/>
                <a:ea typeface="Arial"/>
                <a:cs typeface="Arial"/>
              </a:defRPr>
            </a:lvl5pPr>
            <a:lvl6pPr>
              <a:defRPr sz="3225" b="1">
                <a:solidFill>
                  <a:srgbClr val="102F45"/>
                </a:solidFill>
                <a:latin typeface="Arial"/>
                <a:ea typeface="Arial"/>
                <a:cs typeface="Arial"/>
              </a:defRPr>
            </a:lvl6pPr>
            <a:lvl7pPr>
              <a:defRPr sz="3225" b="1">
                <a:solidFill>
                  <a:srgbClr val="102F45"/>
                </a:solidFill>
                <a:latin typeface="Arial"/>
                <a:ea typeface="Arial"/>
                <a:cs typeface="Arial"/>
              </a:defRPr>
            </a:lvl7pPr>
            <a:lvl8pPr>
              <a:defRPr sz="3225" b="1">
                <a:solidFill>
                  <a:srgbClr val="102F45"/>
                </a:solidFill>
                <a:latin typeface="Arial"/>
                <a:ea typeface="Arial"/>
                <a:cs typeface="Arial"/>
              </a:defRPr>
            </a:lvl8pPr>
            <a:lvl9pPr>
              <a:defRPr sz="3225" b="1">
                <a:solidFill>
                  <a:srgbClr val="102F45"/>
                </a:solidFill>
                <a:latin typeface="Arial"/>
                <a:ea typeface="Arial"/>
                <a:cs typeface="Arial"/>
              </a:defRPr>
            </a:lvl9pPr>
          </a:lstStyle>
          <a:p xmlns:a="http://schemas.openxmlformats.org/drawingml/2006/main">
            <a:pPr>
              <a:defRPr sz="3225" b="1">
                <a:solidFill>
                  <a:srgbClr val="102F45"/>
                </a:solidFill>
                <a:latin typeface="Arial"/>
                <a:ea typeface="Arial"/>
                <a:cs typeface="Arial"/>
              </a:defRPr>
            </a:pPr>
            <a:r>
              <a:rPr sz="3225" b="1">
                <a:solidFill>
                  <a:srgbClr val="102F45"/>
                </a:solidFill>
                <a:latin typeface="Arial"/>
                <a:ea typeface="Arial"/>
                <a:cs typeface="Arial"/>
              </a:rPr>
              <a:t>Data and project pipeline</a:t>
            </a:r>
          </a:p>
        </p:txBody>
      </p:sp>
      <p:sp>
        <p:nvSpPr>
          <p:cNvPr id="2" name="">
            <a:extLst xmlns:a="http://schemas.openxmlformats.org/drawingml/2006/main">
              <a:ext uri="{FF2B5EF4-FFF2-40B4-BE49-F238E27FC236}">
                <a16:creationId xmlns:a16="http://schemas.microsoft.com/office/drawing/2014/main" id="{D2B8D377-4EEC-4D17-9FF4-777926382BF7}"/>
              </a:ext>
            </a:extLst>
          </p:cNvPr>
          <p:cNvSpPr>
            <a:spLocks xmlns:a="http://schemas.openxmlformats.org/drawingml/2006/main" noGrp="1"/>
          </p:cNvSpPr>
          <p:nvPr/>
        </p:nvSpPr>
        <p:spPr>
          <a:xfrm xmlns:a="http://schemas.openxmlformats.org/drawingml/2006/main">
            <a:off x="609600" y="64484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a:solidFill>
                  <a:srgbClr val="5B6B75"/>
                </a:solidFill>
                <a:latin typeface="Arial"/>
                <a:ea typeface="Arial"/>
                <a:cs typeface="Arial"/>
              </a:defRPr>
            </a:defPPr>
            <a:lvl1pPr>
              <a:defRPr sz="1275">
                <a:solidFill>
                  <a:srgbClr val="5B6B75"/>
                </a:solidFill>
                <a:latin typeface="Arial"/>
                <a:ea typeface="Arial"/>
                <a:cs typeface="Arial"/>
              </a:defRPr>
            </a:lvl1pPr>
            <a:lvl2pPr>
              <a:defRPr sz="1275">
                <a:solidFill>
                  <a:srgbClr val="5B6B75"/>
                </a:solidFill>
                <a:latin typeface="Arial"/>
                <a:ea typeface="Arial"/>
                <a:cs typeface="Arial"/>
              </a:defRPr>
            </a:lvl2pPr>
            <a:lvl3pPr>
              <a:defRPr sz="1275">
                <a:solidFill>
                  <a:srgbClr val="5B6B75"/>
                </a:solidFill>
                <a:latin typeface="Arial"/>
                <a:ea typeface="Arial"/>
                <a:cs typeface="Arial"/>
              </a:defRPr>
            </a:lvl3pPr>
            <a:lvl4pPr>
              <a:defRPr sz="1275">
                <a:solidFill>
                  <a:srgbClr val="5B6B75"/>
                </a:solidFill>
                <a:latin typeface="Arial"/>
                <a:ea typeface="Arial"/>
                <a:cs typeface="Arial"/>
              </a:defRPr>
            </a:lvl4pPr>
            <a:lvl5pPr>
              <a:defRPr sz="1275">
                <a:solidFill>
                  <a:srgbClr val="5B6B75"/>
                </a:solidFill>
                <a:latin typeface="Arial"/>
                <a:ea typeface="Arial"/>
                <a:cs typeface="Arial"/>
              </a:defRPr>
            </a:lvl5pPr>
            <a:lvl6pPr>
              <a:defRPr sz="1275">
                <a:solidFill>
                  <a:srgbClr val="5B6B75"/>
                </a:solidFill>
                <a:latin typeface="Arial"/>
                <a:ea typeface="Arial"/>
                <a:cs typeface="Arial"/>
              </a:defRPr>
            </a:lvl6pPr>
            <a:lvl7pPr>
              <a:defRPr sz="1275">
                <a:solidFill>
                  <a:srgbClr val="5B6B75"/>
                </a:solidFill>
                <a:latin typeface="Arial"/>
                <a:ea typeface="Arial"/>
                <a:cs typeface="Arial"/>
              </a:defRPr>
            </a:lvl7pPr>
            <a:lvl8pPr>
              <a:defRPr sz="1275">
                <a:solidFill>
                  <a:srgbClr val="5B6B75"/>
                </a:solidFill>
                <a:latin typeface="Arial"/>
                <a:ea typeface="Arial"/>
                <a:cs typeface="Arial"/>
              </a:defRPr>
            </a:lvl8pPr>
            <a:lvl9pPr>
              <a:defRPr sz="1275">
                <a:solidFill>
                  <a:srgbClr val="5B6B75"/>
                </a:solidFill>
                <a:latin typeface="Arial"/>
                <a:ea typeface="Arial"/>
                <a:cs typeface="Arial"/>
              </a:defRPr>
            </a:lvl9pPr>
          </a:lstStyle>
          <a:p xmlns:a="http://schemas.openxmlformats.org/drawingml/2006/main">
            <a:pPr>
              <a:defRPr sz="1275">
                <a:solidFill>
                  <a:srgbClr val="5B6B75"/>
                </a:solidFill>
                <a:latin typeface="Arial"/>
                <a:ea typeface="Arial"/>
                <a:cs typeface="Arial"/>
              </a:defRPr>
            </a:pPr>
            <a:r>
              <a:rPr sz="1275">
                <a:solidFill>
                  <a:srgbClr val="5B6B75"/>
                </a:solidFill>
                <a:latin typeface="Arial"/>
                <a:ea typeface="Arial"/>
                <a:cs typeface="Arial"/>
              </a:rPr>
              <a:t>Independent banking analytics prototype   2/5</a:t>
            </a:r>
          </a:p>
        </p:txBody>
      </p:sp>
      <p:sp>
        <p:nvSpPr>
          <p:cNvPr id="3" name="">
            <a:extLst xmlns:a="http://schemas.openxmlformats.org/drawingml/2006/main">
              <a:ext uri="{FF2B5EF4-FFF2-40B4-BE49-F238E27FC236}">
                <a16:creationId xmlns:a16="http://schemas.microsoft.com/office/drawing/2014/main" id="{369A936D-F4CC-4046-8CB4-0301458E72DE}"/>
              </a:ext>
            </a:extLst>
          </p:cNvPr>
          <p:cNvSpPr>
            <a:spLocks xmlns:a="http://schemas.openxmlformats.org/drawingml/2006/main" noGrp="1"/>
          </p:cNvSpPr>
          <p:nvPr/>
        </p:nvSpPr>
        <p:spPr>
          <a:xfrm xmlns:a="http://schemas.openxmlformats.org/drawingml/2006/main">
            <a:off x="609600" y="1400175"/>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625" b="1">
                <a:solidFill>
                  <a:srgbClr val="087F8C"/>
                </a:solidFill>
                <a:latin typeface="Arial"/>
                <a:ea typeface="Arial"/>
                <a:cs typeface="Arial"/>
              </a:defRPr>
            </a:defPPr>
            <a:lvl1pPr>
              <a:defRPr sz="2625" b="1">
                <a:solidFill>
                  <a:srgbClr val="087F8C"/>
                </a:solidFill>
                <a:latin typeface="Arial"/>
                <a:ea typeface="Arial"/>
                <a:cs typeface="Arial"/>
              </a:defRPr>
            </a:lvl1pPr>
            <a:lvl2pPr>
              <a:defRPr sz="2625" b="1">
                <a:solidFill>
                  <a:srgbClr val="087F8C"/>
                </a:solidFill>
                <a:latin typeface="Arial"/>
                <a:ea typeface="Arial"/>
                <a:cs typeface="Arial"/>
              </a:defRPr>
            </a:lvl2pPr>
            <a:lvl3pPr>
              <a:defRPr sz="2625" b="1">
                <a:solidFill>
                  <a:srgbClr val="087F8C"/>
                </a:solidFill>
                <a:latin typeface="Arial"/>
                <a:ea typeface="Arial"/>
                <a:cs typeface="Arial"/>
              </a:defRPr>
            </a:lvl3pPr>
            <a:lvl4pPr>
              <a:defRPr sz="2625" b="1">
                <a:solidFill>
                  <a:srgbClr val="087F8C"/>
                </a:solidFill>
                <a:latin typeface="Arial"/>
                <a:ea typeface="Arial"/>
                <a:cs typeface="Arial"/>
              </a:defRPr>
            </a:lvl4pPr>
            <a:lvl5pPr>
              <a:defRPr sz="2625" b="1">
                <a:solidFill>
                  <a:srgbClr val="087F8C"/>
                </a:solidFill>
                <a:latin typeface="Arial"/>
                <a:ea typeface="Arial"/>
                <a:cs typeface="Arial"/>
              </a:defRPr>
            </a:lvl5pPr>
            <a:lvl6pPr>
              <a:defRPr sz="2625" b="1">
                <a:solidFill>
                  <a:srgbClr val="087F8C"/>
                </a:solidFill>
                <a:latin typeface="Arial"/>
                <a:ea typeface="Arial"/>
                <a:cs typeface="Arial"/>
              </a:defRPr>
            </a:lvl6pPr>
            <a:lvl7pPr>
              <a:defRPr sz="2625" b="1">
                <a:solidFill>
                  <a:srgbClr val="087F8C"/>
                </a:solidFill>
                <a:latin typeface="Arial"/>
                <a:ea typeface="Arial"/>
                <a:cs typeface="Arial"/>
              </a:defRPr>
            </a:lvl7pPr>
            <a:lvl8pPr>
              <a:defRPr sz="2625" b="1">
                <a:solidFill>
                  <a:srgbClr val="087F8C"/>
                </a:solidFill>
                <a:latin typeface="Arial"/>
                <a:ea typeface="Arial"/>
                <a:cs typeface="Arial"/>
              </a:defRPr>
            </a:lvl8pPr>
            <a:lvl9pPr>
              <a:defRPr sz="2625" b="1">
                <a:solidFill>
                  <a:srgbClr val="087F8C"/>
                </a:solidFill>
                <a:latin typeface="Arial"/>
                <a:ea typeface="Arial"/>
                <a:cs typeface="Arial"/>
              </a:defRPr>
            </a:lvl9pPr>
          </a:lstStyle>
          <a:p xmlns:a="http://schemas.openxmlformats.org/drawingml/2006/main">
            <a:pPr>
              <a:defRPr sz="2625" b="1">
                <a:solidFill>
                  <a:srgbClr val="087F8C"/>
                </a:solidFill>
                <a:latin typeface="Arial"/>
                <a:ea typeface="Arial"/>
                <a:cs typeface="Arial"/>
              </a:defRPr>
            </a:pPr>
            <a:r>
              <a:rPr sz="2625" b="1">
                <a:solidFill>
                  <a:srgbClr val="087F8C"/>
                </a:solidFill>
                <a:latin typeface="Arial"/>
                <a:ea typeface="Arial"/>
                <a:cs typeface="Arial"/>
              </a:rPr>
              <a:t>41,188 historical campaign records</a:t>
            </a:r>
          </a:p>
        </p:txBody>
      </p:sp>
      <p:sp>
        <p:nvSpPr>
          <p:cNvPr id="4" name="">
            <a:extLst xmlns:a="http://schemas.openxmlformats.org/drawingml/2006/main">
              <a:ext uri="{FF2B5EF4-FFF2-40B4-BE49-F238E27FC236}">
                <a16:creationId xmlns:a16="http://schemas.microsoft.com/office/drawing/2014/main" id="{6F1CF1BC-C4F8-4048-9A3A-CD9E9B823415}"/>
              </a:ext>
            </a:extLst>
          </p:cNvPr>
          <p:cNvSpPr>
            <a:spLocks xmlns:a="http://schemas.openxmlformats.org/drawingml/2006/main" noGrp="1"/>
          </p:cNvSpPr>
          <p:nvPr/>
        </p:nvSpPr>
        <p:spPr>
          <a:xfrm xmlns:a="http://schemas.openxmlformats.org/drawingml/2006/main">
            <a:off x="609600" y="19526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a:solidFill>
                  <a:srgbClr val="5B6B75"/>
                </a:solidFill>
                <a:latin typeface="Arial"/>
                <a:ea typeface="Arial"/>
                <a:cs typeface="Arial"/>
              </a:defRPr>
            </a:defPPr>
            <a:lvl1pPr>
              <a:defRPr sz="1875">
                <a:solidFill>
                  <a:srgbClr val="5B6B75"/>
                </a:solidFill>
                <a:latin typeface="Arial"/>
                <a:ea typeface="Arial"/>
                <a:cs typeface="Arial"/>
              </a:defRPr>
            </a:lvl1pPr>
            <a:lvl2pPr>
              <a:defRPr sz="1875">
                <a:solidFill>
                  <a:srgbClr val="5B6B75"/>
                </a:solidFill>
                <a:latin typeface="Arial"/>
                <a:ea typeface="Arial"/>
                <a:cs typeface="Arial"/>
              </a:defRPr>
            </a:lvl2pPr>
            <a:lvl3pPr>
              <a:defRPr sz="1875">
                <a:solidFill>
                  <a:srgbClr val="5B6B75"/>
                </a:solidFill>
                <a:latin typeface="Arial"/>
                <a:ea typeface="Arial"/>
                <a:cs typeface="Arial"/>
              </a:defRPr>
            </a:lvl3pPr>
            <a:lvl4pPr>
              <a:defRPr sz="1875">
                <a:solidFill>
                  <a:srgbClr val="5B6B75"/>
                </a:solidFill>
                <a:latin typeface="Arial"/>
                <a:ea typeface="Arial"/>
                <a:cs typeface="Arial"/>
              </a:defRPr>
            </a:lvl4pPr>
            <a:lvl5pPr>
              <a:defRPr sz="1875">
                <a:solidFill>
                  <a:srgbClr val="5B6B75"/>
                </a:solidFill>
                <a:latin typeface="Arial"/>
                <a:ea typeface="Arial"/>
                <a:cs typeface="Arial"/>
              </a:defRPr>
            </a:lvl5pPr>
            <a:lvl6pPr>
              <a:defRPr sz="1875">
                <a:solidFill>
                  <a:srgbClr val="5B6B75"/>
                </a:solidFill>
                <a:latin typeface="Arial"/>
                <a:ea typeface="Arial"/>
                <a:cs typeface="Arial"/>
              </a:defRPr>
            </a:lvl6pPr>
            <a:lvl7pPr>
              <a:defRPr sz="1875">
                <a:solidFill>
                  <a:srgbClr val="5B6B75"/>
                </a:solidFill>
                <a:latin typeface="Arial"/>
                <a:ea typeface="Arial"/>
                <a:cs typeface="Arial"/>
              </a:defRPr>
            </a:lvl7pPr>
            <a:lvl8pPr>
              <a:defRPr sz="1875">
                <a:solidFill>
                  <a:srgbClr val="5B6B75"/>
                </a:solidFill>
                <a:latin typeface="Arial"/>
                <a:ea typeface="Arial"/>
                <a:cs typeface="Arial"/>
              </a:defRPr>
            </a:lvl8pPr>
            <a:lvl9pPr>
              <a:defRPr sz="1875">
                <a:solidFill>
                  <a:srgbClr val="5B6B75"/>
                </a:solidFill>
                <a:latin typeface="Arial"/>
                <a:ea typeface="Arial"/>
                <a:cs typeface="Arial"/>
              </a:defRPr>
            </a:lvl9pPr>
          </a:lstStyle>
          <a:p xmlns:a="http://schemas.openxmlformats.org/drawingml/2006/main">
            <a:pPr>
              <a:defRPr sz="1875">
                <a:solidFill>
                  <a:srgbClr val="5B6B75"/>
                </a:solidFill>
                <a:latin typeface="Arial"/>
                <a:ea typeface="Arial"/>
                <a:cs typeface="Arial"/>
              </a:defRPr>
            </a:pPr>
            <a:r>
              <a:rPr sz="1875">
                <a:solidFill>
                  <a:srgbClr val="5B6B75"/>
                </a:solidFill>
                <a:latin typeface="Arial"/>
                <a:ea typeface="Arial"/>
                <a:cs typeface="Arial"/>
              </a:rPr>
              <a:t>UCI bank-additional-full.csv, Portugal, May 2008 to November 2010</a:t>
            </a:r>
          </a:p>
        </p:txBody>
      </p:sp>
      <p:graphicFrame>
        <p:nvGraphicFramePr>
          <p:cNvPr id="5" name="">
            <a:extLst xmlns:a="http://schemas.openxmlformats.org/drawingml/2006/main">
              <a:ext uri="{FF2B5EF4-FFF2-40B4-BE49-F238E27FC236}">
                <a16:creationId xmlns:a16="http://schemas.microsoft.com/office/drawing/2014/main" id="{305E60E0-363D-4514-97D4-FEF31225B852}"/>
              </a:ext>
            </a:extLst>
          </p:cNvPr>
          <p:cNvGraphicFramePr/>
          <p:nvPr/>
        </p:nvGraphicFramePr>
        <p:xfrm>
          <a:off xmlns:a="http://schemas.openxmlformats.org/drawingml/2006/main" x="609600" y="2619375"/>
          <a:ext xmlns:a="http://schemas.openxmlformats.org/drawingml/2006/main" cx="10972800" cy="2895600"/>
        </p:xfrm>
        <a:graphic xmlns:a="http://schemas.openxmlformats.org/drawingml/2006/main">
          <a:graphicData uri="http://schemas.openxmlformats.org/drawingml/2006/table">
            <a:tbl>
              <a:tblPr/>
              <a:tblGrid>
                <a:gridCol w="2809875"/>
                <a:gridCol w="8162925"/>
              </a:tblGrid>
              <a:tr h="482600">
                <a:tc>
                  <a:txBody>
                    <a:bodyPr/>
                    <a:lstStyle/>
                    <a:p>
                      <a:r>
                        <a:rPr sz="1800" b="1">
                          <a:solidFill>
                            <a:srgbClr val="FFFFFF"/>
                          </a:solidFill>
                          <a:latin typeface="Arial"/>
                          <a:ea typeface="Arial"/>
                          <a:cs typeface="Arial"/>
                        </a:rPr>
                        <a:t>Stage</a:t>
                      </a:r>
                    </a:p>
                  </a:txBody>
                  <a:tcPr marL="114300" marR="114300" marT="85725" marB="85725" anchor="ctr">
                    <a:lnL w="6668">
                      <a:solidFill>
                        <a:srgbClr val="CAD5DA"/>
                      </a:solidFill>
                      <a:prstDash val="solid"/>
                    </a:lnL>
                    <a:lnR w="6668">
                      <a:solidFill>
                        <a:srgbClr val="CAD5DA"/>
                      </a:solidFill>
                      <a:prstDash val="solid"/>
                    </a:lnR>
                    <a:lnT w="6668">
                      <a:solidFill>
                        <a:srgbClr val="CAD5DA"/>
                      </a:solidFill>
                      <a:prstDash val="solid"/>
                    </a:lnT>
                    <a:lnB w="6668">
                      <a:solidFill>
                        <a:srgbClr val="CAD5DA"/>
                      </a:solidFill>
                      <a:prstDash val="solid"/>
                    </a:lnB>
                    <a:solidFill>
                      <a:srgbClr val="102F45"/>
                    </a:solidFill>
                  </a:tcPr>
                </a:tc>
                <a:tc>
                  <a:txBody>
                    <a:bodyPr/>
                    <a:lstStyle/>
                    <a:p>
                      <a:r>
                        <a:rPr sz="1800" b="1">
                          <a:solidFill>
                            <a:srgbClr val="FFFFFF"/>
                          </a:solidFill>
                          <a:latin typeface="Arial"/>
                          <a:ea typeface="Arial"/>
                          <a:cs typeface="Arial"/>
                        </a:rPr>
                        <a:t>What the project does</a:t>
                      </a:r>
                    </a:p>
                  </a:txBody>
                  <a:tcPr marL="114300" marR="114300" marT="85725" marB="85725" anchor="ctr">
                    <a:lnR w="6668">
                      <a:solidFill>
                        <a:srgbClr val="CAD5DA"/>
                      </a:solidFill>
                      <a:prstDash val="solid"/>
                    </a:lnR>
                    <a:lnT w="6668">
                      <a:solidFill>
                        <a:srgbClr val="CAD5DA"/>
                      </a:solidFill>
                      <a:prstDash val="solid"/>
                    </a:lnT>
                    <a:lnB w="6668">
                      <a:solidFill>
                        <a:srgbClr val="CAD5DA"/>
                      </a:solidFill>
                      <a:prstDash val="solid"/>
                    </a:lnB>
                    <a:solidFill>
                      <a:srgbClr val="102F45"/>
                    </a:solidFill>
                  </a:tcPr>
                </a:tc>
              </a:tr>
              <a:tr h="482600">
                <a:tc>
                  <a:txBody>
                    <a:bodyPr/>
                    <a:lstStyle/>
                    <a:p>
                      <a:r>
                        <a:rPr sz="1800">
                          <a:solidFill>
                            <a:srgbClr val="152F40"/>
                          </a:solidFill>
                          <a:latin typeface="Arial"/>
                          <a:ea typeface="Arial"/>
                          <a:cs typeface="Arial"/>
                        </a:rPr>
                        <a:t>1  Ingest and audit</a:t>
                      </a:r>
                    </a:p>
                  </a:txBody>
                  <a:tcPr marL="114300" marR="114300" marT="85725" marB="85725" anchor="ctr">
                    <a:lnL w="6668">
                      <a:solidFill>
                        <a:srgbClr val="CAD5DA"/>
                      </a:solidFill>
                      <a:prstDash val="solid"/>
                    </a:lnL>
                    <a:lnR w="6668">
                      <a:solidFill>
                        <a:srgbClr val="CAD5DA"/>
                      </a:solidFill>
                      <a:prstDash val="solid"/>
                    </a:lnR>
                    <a:lnB w="6668">
                      <a:solidFill>
                        <a:srgbClr val="CAD5DA"/>
                      </a:solidFill>
                      <a:prstDash val="solid"/>
                    </a:lnB>
                    <a:solidFill>
                      <a:srgbClr val="FFFFFF"/>
                    </a:solidFill>
                  </a:tcPr>
                </a:tc>
                <a:tc>
                  <a:txBody>
                    <a:bodyPr/>
                    <a:lstStyle/>
                    <a:p>
                      <a:r>
                        <a:rPr sz="1800">
                          <a:solidFill>
                            <a:srgbClr val="152F40"/>
                          </a:solidFill>
                          <a:latin typeface="Arial"/>
                          <a:ea typeface="Arial"/>
                          <a:cs typeface="Arial"/>
                        </a:rPr>
                        <a:t>Preserve order, unknown values, and surrogate record IDs</a:t>
                      </a:r>
                    </a:p>
                  </a:txBody>
                  <a:tcPr marL="114300" marR="114300" marT="85725" marB="85725" anchor="ctr">
                    <a:lnR w="6668">
                      <a:solidFill>
                        <a:srgbClr val="CAD5DA"/>
                      </a:solidFill>
                      <a:prstDash val="solid"/>
                    </a:lnR>
                    <a:lnB w="6668">
                      <a:solidFill>
                        <a:srgbClr val="CAD5DA"/>
                      </a:solidFill>
                      <a:prstDash val="solid"/>
                    </a:lnB>
                    <a:solidFill>
                      <a:srgbClr val="FFFFFF"/>
                    </a:solidFill>
                  </a:tcPr>
                </a:tc>
              </a:tr>
              <a:tr h="482600">
                <a:tc>
                  <a:txBody>
                    <a:bodyPr/>
                    <a:lstStyle/>
                    <a:p>
                      <a:r>
                        <a:rPr sz="1800">
                          <a:solidFill>
                            <a:srgbClr val="152F40"/>
                          </a:solidFill>
                          <a:latin typeface="Arial"/>
                          <a:ea typeface="Arial"/>
                          <a:cs typeface="Arial"/>
                        </a:rPr>
                        <a:t>2  SQLite and SQL</a:t>
                      </a:r>
                    </a:p>
                  </a:txBody>
                  <a:tcPr marL="114300" marR="114300" marT="85725" marB="85725" anchor="ctr">
                    <a:lnL w="6668">
                      <a:solidFill>
                        <a:srgbClr val="CAD5DA"/>
                      </a:solidFill>
                      <a:prstDash val="solid"/>
                    </a:lnL>
                    <a:lnR w="6668">
                      <a:solidFill>
                        <a:srgbClr val="CAD5DA"/>
                      </a:solidFill>
                      <a:prstDash val="solid"/>
                    </a:lnR>
                    <a:lnB w="6668">
                      <a:solidFill>
                        <a:srgbClr val="CAD5DA"/>
                      </a:solidFill>
                      <a:prstDash val="solid"/>
                    </a:lnB>
                    <a:solidFill>
                      <a:srgbClr val="FFFFFF"/>
                    </a:solidFill>
                  </a:tcPr>
                </a:tc>
                <a:tc>
                  <a:txBody>
                    <a:bodyPr/>
                    <a:lstStyle/>
                    <a:p>
                      <a:r>
                        <a:rPr sz="1800">
                          <a:solidFill>
                            <a:srgbClr val="152F40"/>
                          </a:solidFill>
                          <a:latin typeface="Arial"/>
                          <a:ea typeface="Arial"/>
                          <a:cs typeface="Arial"/>
                        </a:rPr>
                        <a:t>Describe customer segments and prior campaign outcomes</a:t>
                      </a:r>
                    </a:p>
                  </a:txBody>
                  <a:tcPr marL="114300" marR="114300" marT="85725" marB="85725" anchor="ctr">
                    <a:lnR w="6668">
                      <a:solidFill>
                        <a:srgbClr val="CAD5DA"/>
                      </a:solidFill>
                      <a:prstDash val="solid"/>
                    </a:lnR>
                    <a:lnB w="6668">
                      <a:solidFill>
                        <a:srgbClr val="CAD5DA"/>
                      </a:solidFill>
                      <a:prstDash val="solid"/>
                    </a:lnB>
                    <a:solidFill>
                      <a:srgbClr val="FFFFFF"/>
                    </a:solidFill>
                  </a:tcPr>
                </a:tc>
              </a:tr>
              <a:tr h="482600">
                <a:tc>
                  <a:txBody>
                    <a:bodyPr/>
                    <a:lstStyle/>
                    <a:p>
                      <a:r>
                        <a:rPr sz="1800">
                          <a:solidFill>
                            <a:srgbClr val="152F40"/>
                          </a:solidFill>
                          <a:latin typeface="Arial"/>
                          <a:ea typeface="Arial"/>
                          <a:cs typeface="Arial"/>
                        </a:rPr>
                        <a:t>3  Model training</a:t>
                      </a:r>
                    </a:p>
                  </a:txBody>
                  <a:tcPr marL="114300" marR="114300" marT="85725" marB="85725" anchor="ctr">
                    <a:lnL w="6668">
                      <a:solidFill>
                        <a:srgbClr val="CAD5DA"/>
                      </a:solidFill>
                      <a:prstDash val="solid"/>
                    </a:lnL>
                    <a:lnR w="6668">
                      <a:solidFill>
                        <a:srgbClr val="CAD5DA"/>
                      </a:solidFill>
                      <a:prstDash val="solid"/>
                    </a:lnR>
                    <a:lnB w="6668">
                      <a:solidFill>
                        <a:srgbClr val="CAD5DA"/>
                      </a:solidFill>
                      <a:prstDash val="solid"/>
                    </a:lnB>
                    <a:solidFill>
                      <a:srgbClr val="FFFFFF"/>
                    </a:solidFill>
                  </a:tcPr>
                </a:tc>
                <a:tc>
                  <a:txBody>
                    <a:bodyPr/>
                    <a:lstStyle/>
                    <a:p>
                      <a:r>
                        <a:rPr sz="1800">
                          <a:solidFill>
                            <a:srgbClr val="152F40"/>
                          </a:solidFill>
                          <a:latin typeface="Arial"/>
                          <a:ea typeface="Arial"/>
                          <a:cs typeface="Arial"/>
                        </a:rPr>
                        <a:t>Training-only preprocessing and two model families</a:t>
                      </a:r>
                    </a:p>
                  </a:txBody>
                  <a:tcPr marL="114300" marR="114300" marT="85725" marB="85725" anchor="ctr">
                    <a:lnR w="6668">
                      <a:solidFill>
                        <a:srgbClr val="CAD5DA"/>
                      </a:solidFill>
                      <a:prstDash val="solid"/>
                    </a:lnR>
                    <a:lnB w="6668">
                      <a:solidFill>
                        <a:srgbClr val="CAD5DA"/>
                      </a:solidFill>
                      <a:prstDash val="solid"/>
                    </a:lnB>
                    <a:solidFill>
                      <a:srgbClr val="FFFFFF"/>
                    </a:solidFill>
                  </a:tcPr>
                </a:tc>
              </a:tr>
              <a:tr h="482600">
                <a:tc>
                  <a:txBody>
                    <a:bodyPr/>
                    <a:lstStyle/>
                    <a:p>
                      <a:r>
                        <a:rPr sz="1800">
                          <a:solidFill>
                            <a:srgbClr val="152F40"/>
                          </a:solidFill>
                          <a:latin typeface="Arial"/>
                          <a:ea typeface="Arial"/>
                          <a:cs typeface="Arial"/>
                        </a:rPr>
                        <a:t>4  Score and review</a:t>
                      </a:r>
                    </a:p>
                  </a:txBody>
                  <a:tcPr marL="114300" marR="114300" marT="85725" marB="85725" anchor="ctr">
                    <a:lnL w="6668">
                      <a:solidFill>
                        <a:srgbClr val="CAD5DA"/>
                      </a:solidFill>
                      <a:prstDash val="solid"/>
                    </a:lnL>
                    <a:lnR w="6668">
                      <a:solidFill>
                        <a:srgbClr val="CAD5DA"/>
                      </a:solidFill>
                      <a:prstDash val="solid"/>
                    </a:lnR>
                    <a:lnB w="6668">
                      <a:solidFill>
                        <a:srgbClr val="CAD5DA"/>
                      </a:solidFill>
                      <a:prstDash val="solid"/>
                    </a:lnB>
                    <a:solidFill>
                      <a:srgbClr val="FFFFFF"/>
                    </a:solidFill>
                  </a:tcPr>
                </a:tc>
                <a:tc>
                  <a:txBody>
                    <a:bodyPr/>
                    <a:lstStyle/>
                    <a:p>
                      <a:r>
                        <a:rPr sz="1800">
                          <a:solidFill>
                            <a:srgbClr val="152F40"/>
                          </a:solidFill>
                          <a:latin typeface="Arial"/>
                          <a:ea typeface="Arial"/>
                          <a:cs typeface="Arial"/>
                        </a:rPr>
                        <a:t>Score records, apply simulated rules, and export a shortlist</a:t>
                      </a:r>
                    </a:p>
                  </a:txBody>
                  <a:tcPr marL="114300" marR="114300" marT="85725" marB="85725" anchor="ctr">
                    <a:lnR w="6668">
                      <a:solidFill>
                        <a:srgbClr val="CAD5DA"/>
                      </a:solidFill>
                      <a:prstDash val="solid"/>
                    </a:lnR>
                    <a:lnB w="6668">
                      <a:solidFill>
                        <a:srgbClr val="CAD5DA"/>
                      </a:solidFill>
                      <a:prstDash val="solid"/>
                    </a:lnB>
                    <a:solidFill>
                      <a:srgbClr val="FFFFFF"/>
                    </a:solidFill>
                  </a:tcPr>
                </a:tc>
              </a:tr>
              <a:tr h="482600">
                <a:tc>
                  <a:txBody>
                    <a:bodyPr/>
                    <a:lstStyle/>
                    <a:p>
                      <a:r>
                        <a:rPr sz="1800">
                          <a:solidFill>
                            <a:srgbClr val="152F40"/>
                          </a:solidFill>
                          <a:latin typeface="Arial"/>
                          <a:ea typeface="Arial"/>
                          <a:cs typeface="Arial"/>
                        </a:rPr>
                        <a:t>5  Streamlit demo</a:t>
                      </a:r>
                    </a:p>
                  </a:txBody>
                  <a:tcPr marL="114300" marR="114300" marT="85725" marB="85725" anchor="ctr">
                    <a:lnL w="6668">
                      <a:solidFill>
                        <a:srgbClr val="CAD5DA"/>
                      </a:solidFill>
                      <a:prstDash val="solid"/>
                    </a:lnL>
                    <a:lnR w="6668">
                      <a:solidFill>
                        <a:srgbClr val="CAD5DA"/>
                      </a:solidFill>
                      <a:prstDash val="solid"/>
                    </a:lnR>
                    <a:lnB w="6668">
                      <a:solidFill>
                        <a:srgbClr val="CAD5DA"/>
                      </a:solidFill>
                      <a:prstDash val="solid"/>
                    </a:lnB>
                    <a:solidFill>
                      <a:srgbClr val="FFFFFF"/>
                    </a:solidFill>
                  </a:tcPr>
                </a:tc>
                <a:tc>
                  <a:txBody>
                    <a:bodyPr/>
                    <a:lstStyle/>
                    <a:p>
                      <a:r>
                        <a:rPr sz="1800">
                          <a:solidFill>
                            <a:srgbClr val="152F40"/>
                          </a:solidFill>
                          <a:latin typeface="Arial"/>
                          <a:ea typeface="Arial"/>
                          <a:cs typeface="Arial"/>
                        </a:rPr>
                        <a:t>Explore history, model results, outreach replay, and scoring</a:t>
                      </a:r>
                    </a:p>
                  </a:txBody>
                  <a:tcPr marL="114300" marR="114300" marT="85725" marB="85725" anchor="ctr">
                    <a:lnR w="6668">
                      <a:solidFill>
                        <a:srgbClr val="CAD5DA"/>
                      </a:solidFill>
                      <a:prstDash val="solid"/>
                    </a:lnR>
                    <a:lnB w="6668">
                      <a:solidFill>
                        <a:srgbClr val="CAD5DA"/>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01BDC301-F6AF-4F2E-AC66-CF736164B676}"/>
              </a:ext>
            </a:extLst>
          </p:cNvPr>
          <p:cNvSpPr>
            <a:spLocks xmlns:a="http://schemas.openxmlformats.org/drawingml/2006/main" noGrp="1"/>
          </p:cNvSpPr>
          <p:nvPr/>
        </p:nvSpPr>
        <p:spPr>
          <a:xfrm xmlns:a="http://schemas.openxmlformats.org/drawingml/2006/main">
            <a:off x="609600" y="58102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a:solidFill>
                  <a:srgbClr val="5B6B75"/>
                </a:solidFill>
                <a:latin typeface="Arial"/>
                <a:ea typeface="Arial"/>
                <a:cs typeface="Arial"/>
              </a:defRPr>
            </a:defPPr>
            <a:lvl1pPr>
              <a:defRPr sz="1725">
                <a:solidFill>
                  <a:srgbClr val="5B6B75"/>
                </a:solidFill>
                <a:latin typeface="Arial"/>
                <a:ea typeface="Arial"/>
                <a:cs typeface="Arial"/>
              </a:defRPr>
            </a:lvl1pPr>
            <a:lvl2pPr>
              <a:defRPr sz="1725">
                <a:solidFill>
                  <a:srgbClr val="5B6B75"/>
                </a:solidFill>
                <a:latin typeface="Arial"/>
                <a:ea typeface="Arial"/>
                <a:cs typeface="Arial"/>
              </a:defRPr>
            </a:lvl2pPr>
            <a:lvl3pPr>
              <a:defRPr sz="1725">
                <a:solidFill>
                  <a:srgbClr val="5B6B75"/>
                </a:solidFill>
                <a:latin typeface="Arial"/>
                <a:ea typeface="Arial"/>
                <a:cs typeface="Arial"/>
              </a:defRPr>
            </a:lvl3pPr>
            <a:lvl4pPr>
              <a:defRPr sz="1725">
                <a:solidFill>
                  <a:srgbClr val="5B6B75"/>
                </a:solidFill>
                <a:latin typeface="Arial"/>
                <a:ea typeface="Arial"/>
                <a:cs typeface="Arial"/>
              </a:defRPr>
            </a:lvl4pPr>
            <a:lvl5pPr>
              <a:defRPr sz="1725">
                <a:solidFill>
                  <a:srgbClr val="5B6B75"/>
                </a:solidFill>
                <a:latin typeface="Arial"/>
                <a:ea typeface="Arial"/>
                <a:cs typeface="Arial"/>
              </a:defRPr>
            </a:lvl5pPr>
            <a:lvl6pPr>
              <a:defRPr sz="1725">
                <a:solidFill>
                  <a:srgbClr val="5B6B75"/>
                </a:solidFill>
                <a:latin typeface="Arial"/>
                <a:ea typeface="Arial"/>
                <a:cs typeface="Arial"/>
              </a:defRPr>
            </a:lvl6pPr>
            <a:lvl7pPr>
              <a:defRPr sz="1725">
                <a:solidFill>
                  <a:srgbClr val="5B6B75"/>
                </a:solidFill>
                <a:latin typeface="Arial"/>
                <a:ea typeface="Arial"/>
                <a:cs typeface="Arial"/>
              </a:defRPr>
            </a:lvl7pPr>
            <a:lvl8pPr>
              <a:defRPr sz="1725">
                <a:solidFill>
                  <a:srgbClr val="5B6B75"/>
                </a:solidFill>
                <a:latin typeface="Arial"/>
                <a:ea typeface="Arial"/>
                <a:cs typeface="Arial"/>
              </a:defRPr>
            </a:lvl8pPr>
            <a:lvl9pPr>
              <a:defRPr sz="1725">
                <a:solidFill>
                  <a:srgbClr val="5B6B75"/>
                </a:solidFill>
                <a:latin typeface="Arial"/>
                <a:ea typeface="Arial"/>
                <a:cs typeface="Arial"/>
              </a:defRPr>
            </a:lvl9pPr>
          </a:lstStyle>
          <a:p xmlns:a="http://schemas.openxmlformats.org/drawingml/2006/main">
            <a:pPr>
              <a:defRPr sz="1725">
                <a:solidFill>
                  <a:srgbClr val="5B6B75"/>
                </a:solidFill>
                <a:latin typeface="Arial"/>
                <a:ea typeface="Arial"/>
                <a:cs typeface="Arial"/>
              </a:defRPr>
            </a:pPr>
            <a:r>
              <a:rPr sz="1725">
                <a:solidFill>
                  <a:srgbClr val="5B6B75"/>
                </a:solidFill>
                <a:latin typeface="Arial"/>
                <a:ea typeface="Arial"/>
                <a:cs typeface="Arial"/>
              </a:rPr>
              <a:t>Telephone campaign history. Digital-channel examples and engagement flags are simulated.</a:t>
            </a:r>
          </a:p>
        </p:txBody>
      </p:sp>
    </p:spTree>
    <p:extLst>
      <p:ext uri="{BB962C8B-B14F-4D97-AF65-F5344CB8AC3E}">
        <p14:creationId xmlns:p14="http://schemas.microsoft.com/office/powerpoint/2010/main" val="36322243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0410C29-EC8D-48D0-B709-9F9A0C6F2D27}"/>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02F45"/>
                </a:solidFill>
                <a:latin typeface="Arial"/>
                <a:ea typeface="Arial"/>
                <a:cs typeface="Arial"/>
              </a:defRPr>
            </a:defPPr>
            <a:lvl1pPr>
              <a:defRPr sz="3225" b="1">
                <a:solidFill>
                  <a:srgbClr val="102F45"/>
                </a:solidFill>
                <a:latin typeface="Arial"/>
                <a:ea typeface="Arial"/>
                <a:cs typeface="Arial"/>
              </a:defRPr>
            </a:lvl1pPr>
            <a:lvl2pPr>
              <a:defRPr sz="3225" b="1">
                <a:solidFill>
                  <a:srgbClr val="102F45"/>
                </a:solidFill>
                <a:latin typeface="Arial"/>
                <a:ea typeface="Arial"/>
                <a:cs typeface="Arial"/>
              </a:defRPr>
            </a:lvl2pPr>
            <a:lvl3pPr>
              <a:defRPr sz="3225" b="1">
                <a:solidFill>
                  <a:srgbClr val="102F45"/>
                </a:solidFill>
                <a:latin typeface="Arial"/>
                <a:ea typeface="Arial"/>
                <a:cs typeface="Arial"/>
              </a:defRPr>
            </a:lvl3pPr>
            <a:lvl4pPr>
              <a:defRPr sz="3225" b="1">
                <a:solidFill>
                  <a:srgbClr val="102F45"/>
                </a:solidFill>
                <a:latin typeface="Arial"/>
                <a:ea typeface="Arial"/>
                <a:cs typeface="Arial"/>
              </a:defRPr>
            </a:lvl4pPr>
            <a:lvl5pPr>
              <a:defRPr sz="3225" b="1">
                <a:solidFill>
                  <a:srgbClr val="102F45"/>
                </a:solidFill>
                <a:latin typeface="Arial"/>
                <a:ea typeface="Arial"/>
                <a:cs typeface="Arial"/>
              </a:defRPr>
            </a:lvl5pPr>
            <a:lvl6pPr>
              <a:defRPr sz="3225" b="1">
                <a:solidFill>
                  <a:srgbClr val="102F45"/>
                </a:solidFill>
                <a:latin typeface="Arial"/>
                <a:ea typeface="Arial"/>
                <a:cs typeface="Arial"/>
              </a:defRPr>
            </a:lvl6pPr>
            <a:lvl7pPr>
              <a:defRPr sz="3225" b="1">
                <a:solidFill>
                  <a:srgbClr val="102F45"/>
                </a:solidFill>
                <a:latin typeface="Arial"/>
                <a:ea typeface="Arial"/>
                <a:cs typeface="Arial"/>
              </a:defRPr>
            </a:lvl7pPr>
            <a:lvl8pPr>
              <a:defRPr sz="3225" b="1">
                <a:solidFill>
                  <a:srgbClr val="102F45"/>
                </a:solidFill>
                <a:latin typeface="Arial"/>
                <a:ea typeface="Arial"/>
                <a:cs typeface="Arial"/>
              </a:defRPr>
            </a:lvl8pPr>
            <a:lvl9pPr>
              <a:defRPr sz="3225" b="1">
                <a:solidFill>
                  <a:srgbClr val="102F45"/>
                </a:solidFill>
                <a:latin typeface="Arial"/>
                <a:ea typeface="Arial"/>
                <a:cs typeface="Arial"/>
              </a:defRPr>
            </a:lvl9pPr>
          </a:lstStyle>
          <a:p xmlns:a="http://schemas.openxmlformats.org/drawingml/2006/main">
            <a:pPr>
              <a:defRPr sz="3225" b="1">
                <a:solidFill>
                  <a:srgbClr val="102F45"/>
                </a:solidFill>
                <a:latin typeface="Arial"/>
                <a:ea typeface="Arial"/>
                <a:cs typeface="Arial"/>
              </a:defRPr>
            </a:pPr>
            <a:r>
              <a:rPr sz="3225" b="1">
                <a:solidFill>
                  <a:srgbClr val="102F45"/>
                </a:solidFill>
                <a:latin typeface="Arial"/>
                <a:ea typeface="Arial"/>
                <a:cs typeface="Arial"/>
              </a:rPr>
              <a:t>Leakage controls and ordered evaluation</a:t>
            </a:r>
          </a:p>
        </p:txBody>
      </p:sp>
      <p:sp>
        <p:nvSpPr>
          <p:cNvPr id="2" name="">
            <a:extLst xmlns:a="http://schemas.openxmlformats.org/drawingml/2006/main">
              <a:ext uri="{FF2B5EF4-FFF2-40B4-BE49-F238E27FC236}">
                <a16:creationId xmlns:a16="http://schemas.microsoft.com/office/drawing/2014/main" id="{528AAA1D-E559-4E22-806C-0B9571215135}"/>
              </a:ext>
            </a:extLst>
          </p:cNvPr>
          <p:cNvSpPr>
            <a:spLocks xmlns:a="http://schemas.openxmlformats.org/drawingml/2006/main" noGrp="1"/>
          </p:cNvSpPr>
          <p:nvPr/>
        </p:nvSpPr>
        <p:spPr>
          <a:xfrm xmlns:a="http://schemas.openxmlformats.org/drawingml/2006/main">
            <a:off x="609600" y="64484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a:solidFill>
                  <a:srgbClr val="5B6B75"/>
                </a:solidFill>
                <a:latin typeface="Arial"/>
                <a:ea typeface="Arial"/>
                <a:cs typeface="Arial"/>
              </a:defRPr>
            </a:defPPr>
            <a:lvl1pPr>
              <a:defRPr sz="1275">
                <a:solidFill>
                  <a:srgbClr val="5B6B75"/>
                </a:solidFill>
                <a:latin typeface="Arial"/>
                <a:ea typeface="Arial"/>
                <a:cs typeface="Arial"/>
              </a:defRPr>
            </a:lvl1pPr>
            <a:lvl2pPr>
              <a:defRPr sz="1275">
                <a:solidFill>
                  <a:srgbClr val="5B6B75"/>
                </a:solidFill>
                <a:latin typeface="Arial"/>
                <a:ea typeface="Arial"/>
                <a:cs typeface="Arial"/>
              </a:defRPr>
            </a:lvl2pPr>
            <a:lvl3pPr>
              <a:defRPr sz="1275">
                <a:solidFill>
                  <a:srgbClr val="5B6B75"/>
                </a:solidFill>
                <a:latin typeface="Arial"/>
                <a:ea typeface="Arial"/>
                <a:cs typeface="Arial"/>
              </a:defRPr>
            </a:lvl3pPr>
            <a:lvl4pPr>
              <a:defRPr sz="1275">
                <a:solidFill>
                  <a:srgbClr val="5B6B75"/>
                </a:solidFill>
                <a:latin typeface="Arial"/>
                <a:ea typeface="Arial"/>
                <a:cs typeface="Arial"/>
              </a:defRPr>
            </a:lvl4pPr>
            <a:lvl5pPr>
              <a:defRPr sz="1275">
                <a:solidFill>
                  <a:srgbClr val="5B6B75"/>
                </a:solidFill>
                <a:latin typeface="Arial"/>
                <a:ea typeface="Arial"/>
                <a:cs typeface="Arial"/>
              </a:defRPr>
            </a:lvl5pPr>
            <a:lvl6pPr>
              <a:defRPr sz="1275">
                <a:solidFill>
                  <a:srgbClr val="5B6B75"/>
                </a:solidFill>
                <a:latin typeface="Arial"/>
                <a:ea typeface="Arial"/>
                <a:cs typeface="Arial"/>
              </a:defRPr>
            </a:lvl6pPr>
            <a:lvl7pPr>
              <a:defRPr sz="1275">
                <a:solidFill>
                  <a:srgbClr val="5B6B75"/>
                </a:solidFill>
                <a:latin typeface="Arial"/>
                <a:ea typeface="Arial"/>
                <a:cs typeface="Arial"/>
              </a:defRPr>
            </a:lvl7pPr>
            <a:lvl8pPr>
              <a:defRPr sz="1275">
                <a:solidFill>
                  <a:srgbClr val="5B6B75"/>
                </a:solidFill>
                <a:latin typeface="Arial"/>
                <a:ea typeface="Arial"/>
                <a:cs typeface="Arial"/>
              </a:defRPr>
            </a:lvl8pPr>
            <a:lvl9pPr>
              <a:defRPr sz="1275">
                <a:solidFill>
                  <a:srgbClr val="5B6B75"/>
                </a:solidFill>
                <a:latin typeface="Arial"/>
                <a:ea typeface="Arial"/>
                <a:cs typeface="Arial"/>
              </a:defRPr>
            </a:lvl9pPr>
          </a:lstStyle>
          <a:p xmlns:a="http://schemas.openxmlformats.org/drawingml/2006/main">
            <a:pPr>
              <a:defRPr sz="1275">
                <a:solidFill>
                  <a:srgbClr val="5B6B75"/>
                </a:solidFill>
                <a:latin typeface="Arial"/>
                <a:ea typeface="Arial"/>
                <a:cs typeface="Arial"/>
              </a:defRPr>
            </a:pPr>
            <a:r>
              <a:rPr sz="1275">
                <a:solidFill>
                  <a:srgbClr val="5B6B75"/>
                </a:solidFill>
                <a:latin typeface="Arial"/>
                <a:ea typeface="Arial"/>
                <a:cs typeface="Arial"/>
              </a:rPr>
              <a:t>Independent banking analytics prototype   3/5</a:t>
            </a:r>
          </a:p>
        </p:txBody>
      </p:sp>
      <p:graphicFrame>
        <p:nvGraphicFramePr>
          <p:cNvPr id="3" name="">
            <a:extLst xmlns:a="http://schemas.openxmlformats.org/drawingml/2006/main">
              <a:ext uri="{FF2B5EF4-FFF2-40B4-BE49-F238E27FC236}">
                <a16:creationId xmlns:a16="http://schemas.microsoft.com/office/drawing/2014/main" id="{C42EB29F-2FEB-442E-A9BD-BDB133D1B5D7}"/>
              </a:ext>
            </a:extLst>
          </p:cNvPr>
          <p:cNvGraphicFramePr/>
          <p:nvPr/>
        </p:nvGraphicFramePr>
        <p:xfrm>
          <a:off xmlns:a="http://schemas.openxmlformats.org/drawingml/2006/main" x="609600" y="1438275"/>
          <a:ext xmlns:a="http://schemas.openxmlformats.org/drawingml/2006/main" cx="10972800" cy="2076450"/>
        </p:xfrm>
        <a:graphic xmlns:a="http://schemas.openxmlformats.org/drawingml/2006/main">
          <a:graphicData uri="http://schemas.openxmlformats.org/drawingml/2006/table">
            <a:tbl>
              <a:tblPr/>
              <a:tblGrid>
                <a:gridCol w="2857500"/>
                <a:gridCol w="2000250"/>
                <a:gridCol w="6115050"/>
              </a:tblGrid>
              <a:tr h="519113">
                <a:tc>
                  <a:txBody>
                    <a:bodyPr/>
                    <a:lstStyle/>
                    <a:p>
                      <a:r>
                        <a:rPr sz="2025" b="1">
                          <a:solidFill>
                            <a:srgbClr val="FFFFFF"/>
                          </a:solidFill>
                          <a:latin typeface="Arial"/>
                          <a:ea typeface="Arial"/>
                          <a:cs typeface="Arial"/>
                        </a:rPr>
                        <a:t>Partition</a:t>
                      </a:r>
                    </a:p>
                  </a:txBody>
                  <a:tcPr marL="114300" marR="114300" marT="85725" marB="85725" anchor="ctr">
                    <a:lnL w="6668">
                      <a:solidFill>
                        <a:srgbClr val="CAD5DA"/>
                      </a:solidFill>
                      <a:prstDash val="solid"/>
                    </a:lnL>
                    <a:lnR w="6668">
                      <a:solidFill>
                        <a:srgbClr val="CAD5DA"/>
                      </a:solidFill>
                      <a:prstDash val="solid"/>
                    </a:lnR>
                    <a:lnT w="6668">
                      <a:solidFill>
                        <a:srgbClr val="CAD5DA"/>
                      </a:solidFill>
                      <a:prstDash val="solid"/>
                    </a:lnT>
                    <a:lnB w="6668">
                      <a:solidFill>
                        <a:srgbClr val="CAD5DA"/>
                      </a:solidFill>
                      <a:prstDash val="solid"/>
                    </a:lnB>
                    <a:solidFill>
                      <a:srgbClr val="102F45"/>
                    </a:solidFill>
                  </a:tcPr>
                </a:tc>
                <a:tc>
                  <a:txBody>
                    <a:bodyPr/>
                    <a:lstStyle/>
                    <a:p>
                      <a:r>
                        <a:rPr sz="2025" b="1">
                          <a:solidFill>
                            <a:srgbClr val="FFFFFF"/>
                          </a:solidFill>
                          <a:latin typeface="Arial"/>
                          <a:ea typeface="Arial"/>
                          <a:cs typeface="Arial"/>
                        </a:rPr>
                        <a:t>Rows</a:t>
                      </a:r>
                    </a:p>
                  </a:txBody>
                  <a:tcPr marL="114300" marR="114300" marT="85725" marB="85725" anchor="ctr">
                    <a:lnR w="6668">
                      <a:solidFill>
                        <a:srgbClr val="CAD5DA"/>
                      </a:solidFill>
                      <a:prstDash val="solid"/>
                    </a:lnR>
                    <a:lnT w="6668">
                      <a:solidFill>
                        <a:srgbClr val="CAD5DA"/>
                      </a:solidFill>
                      <a:prstDash val="solid"/>
                    </a:lnT>
                    <a:lnB w="6668">
                      <a:solidFill>
                        <a:srgbClr val="CAD5DA"/>
                      </a:solidFill>
                      <a:prstDash val="solid"/>
                    </a:lnB>
                    <a:solidFill>
                      <a:srgbClr val="102F45"/>
                    </a:solidFill>
                  </a:tcPr>
                </a:tc>
                <a:tc>
                  <a:txBody>
                    <a:bodyPr/>
                    <a:lstStyle/>
                    <a:p>
                      <a:r>
                        <a:rPr sz="2025" b="1">
                          <a:solidFill>
                            <a:srgbClr val="FFFFFF"/>
                          </a:solidFill>
                          <a:latin typeface="Arial"/>
                          <a:ea typeface="Arial"/>
                          <a:cs typeface="Arial"/>
                        </a:rPr>
                        <a:t>Purpose</a:t>
                      </a:r>
                    </a:p>
                  </a:txBody>
                  <a:tcPr marL="114300" marR="114300" marT="85725" marB="85725" anchor="ctr">
                    <a:lnR w="6668">
                      <a:solidFill>
                        <a:srgbClr val="CAD5DA"/>
                      </a:solidFill>
                      <a:prstDash val="solid"/>
                    </a:lnR>
                    <a:lnT w="6668">
                      <a:solidFill>
                        <a:srgbClr val="CAD5DA"/>
                      </a:solidFill>
                      <a:prstDash val="solid"/>
                    </a:lnT>
                    <a:lnB w="6668">
                      <a:solidFill>
                        <a:srgbClr val="CAD5DA"/>
                      </a:solidFill>
                      <a:prstDash val="solid"/>
                    </a:lnB>
                    <a:solidFill>
                      <a:srgbClr val="102F45"/>
                    </a:solidFill>
                  </a:tcPr>
                </a:tc>
              </a:tr>
              <a:tr h="519113">
                <a:tc>
                  <a:txBody>
                    <a:bodyPr/>
                    <a:lstStyle/>
                    <a:p>
                      <a:r>
                        <a:rPr sz="2025">
                          <a:solidFill>
                            <a:srgbClr val="152F40"/>
                          </a:solidFill>
                          <a:latin typeface="Arial"/>
                          <a:ea typeface="Arial"/>
                          <a:cs typeface="Arial"/>
                        </a:rPr>
                        <a:t>Earliest 70%</a:t>
                      </a:r>
                    </a:p>
                  </a:txBody>
                  <a:tcPr marL="114300" marR="114300" marT="85725" marB="85725" anchor="ctr">
                    <a:lnL w="6668">
                      <a:solidFill>
                        <a:srgbClr val="CAD5DA"/>
                      </a:solidFill>
                      <a:prstDash val="solid"/>
                    </a:lnL>
                    <a:lnR w="6668">
                      <a:solidFill>
                        <a:srgbClr val="CAD5DA"/>
                      </a:solidFill>
                      <a:prstDash val="solid"/>
                    </a:lnR>
                    <a:lnB w="6668">
                      <a:solidFill>
                        <a:srgbClr val="CAD5DA"/>
                      </a:solidFill>
                      <a:prstDash val="solid"/>
                    </a:lnB>
                    <a:solidFill>
                      <a:srgbClr val="FFFFFF"/>
                    </a:solidFill>
                  </a:tcPr>
                </a:tc>
                <a:tc>
                  <a:txBody>
                    <a:bodyPr/>
                    <a:lstStyle/>
                    <a:p>
                      <a:r>
                        <a:rPr sz="2025">
                          <a:solidFill>
                            <a:srgbClr val="152F40"/>
                          </a:solidFill>
                          <a:latin typeface="Arial"/>
                          <a:ea typeface="Arial"/>
                          <a:cs typeface="Arial"/>
                        </a:rPr>
                        <a:t>28,831</a:t>
                      </a:r>
                    </a:p>
                  </a:txBody>
                  <a:tcPr marL="114300" marR="114300" marT="85725" marB="85725" anchor="ctr">
                    <a:lnR w="6668">
                      <a:solidFill>
                        <a:srgbClr val="CAD5DA"/>
                      </a:solidFill>
                      <a:prstDash val="solid"/>
                    </a:lnR>
                    <a:lnB w="6668">
                      <a:solidFill>
                        <a:srgbClr val="CAD5DA"/>
                      </a:solidFill>
                      <a:prstDash val="solid"/>
                    </a:lnB>
                    <a:solidFill>
                      <a:srgbClr val="FFFFFF"/>
                    </a:solidFill>
                  </a:tcPr>
                </a:tc>
                <a:tc>
                  <a:txBody>
                    <a:bodyPr/>
                    <a:lstStyle/>
                    <a:p>
                      <a:r>
                        <a:rPr sz="2025">
                          <a:solidFill>
                            <a:srgbClr val="152F40"/>
                          </a:solidFill>
                          <a:latin typeface="Arial"/>
                          <a:ea typeface="Arial"/>
                          <a:cs typeface="Arial"/>
                        </a:rPr>
                        <a:t>Fit features and model candidates</a:t>
                      </a:r>
                    </a:p>
                  </a:txBody>
                  <a:tcPr marL="114300" marR="114300" marT="85725" marB="85725" anchor="ctr">
                    <a:lnR w="6668">
                      <a:solidFill>
                        <a:srgbClr val="CAD5DA"/>
                      </a:solidFill>
                      <a:prstDash val="solid"/>
                    </a:lnR>
                    <a:lnB w="6668">
                      <a:solidFill>
                        <a:srgbClr val="CAD5DA"/>
                      </a:solidFill>
                      <a:prstDash val="solid"/>
                    </a:lnB>
                    <a:solidFill>
                      <a:srgbClr val="FFFFFF"/>
                    </a:solidFill>
                  </a:tcPr>
                </a:tc>
              </a:tr>
              <a:tr h="519113">
                <a:tc>
                  <a:txBody>
                    <a:bodyPr/>
                    <a:lstStyle/>
                    <a:p>
                      <a:r>
                        <a:rPr sz="2025">
                          <a:solidFill>
                            <a:srgbClr val="152F40"/>
                          </a:solidFill>
                          <a:latin typeface="Arial"/>
                          <a:ea typeface="Arial"/>
                          <a:cs typeface="Arial"/>
                        </a:rPr>
                        <a:t>Next 15%</a:t>
                      </a:r>
                    </a:p>
                  </a:txBody>
                  <a:tcPr marL="114300" marR="114300" marT="85725" marB="85725" anchor="ctr">
                    <a:lnL w="6668">
                      <a:solidFill>
                        <a:srgbClr val="CAD5DA"/>
                      </a:solidFill>
                      <a:prstDash val="solid"/>
                    </a:lnL>
                    <a:lnR w="6668">
                      <a:solidFill>
                        <a:srgbClr val="CAD5DA"/>
                      </a:solidFill>
                      <a:prstDash val="solid"/>
                    </a:lnR>
                    <a:lnB w="6668">
                      <a:solidFill>
                        <a:srgbClr val="CAD5DA"/>
                      </a:solidFill>
                      <a:prstDash val="solid"/>
                    </a:lnB>
                    <a:solidFill>
                      <a:srgbClr val="FFFFFF"/>
                    </a:solidFill>
                  </a:tcPr>
                </a:tc>
                <a:tc>
                  <a:txBody>
                    <a:bodyPr/>
                    <a:lstStyle/>
                    <a:p>
                      <a:r>
                        <a:rPr sz="2025">
                          <a:solidFill>
                            <a:srgbClr val="152F40"/>
                          </a:solidFill>
                          <a:latin typeface="Arial"/>
                          <a:ea typeface="Arial"/>
                          <a:cs typeface="Arial"/>
                        </a:rPr>
                        <a:t>6,178</a:t>
                      </a:r>
                    </a:p>
                  </a:txBody>
                  <a:tcPr marL="114300" marR="114300" marT="85725" marB="85725" anchor="ctr">
                    <a:lnR w="6668">
                      <a:solidFill>
                        <a:srgbClr val="CAD5DA"/>
                      </a:solidFill>
                      <a:prstDash val="solid"/>
                    </a:lnR>
                    <a:lnB w="6668">
                      <a:solidFill>
                        <a:srgbClr val="CAD5DA"/>
                      </a:solidFill>
                      <a:prstDash val="solid"/>
                    </a:lnB>
                    <a:solidFill>
                      <a:srgbClr val="FFFFFF"/>
                    </a:solidFill>
                  </a:tcPr>
                </a:tc>
                <a:tc>
                  <a:txBody>
                    <a:bodyPr/>
                    <a:lstStyle/>
                    <a:p>
                      <a:r>
                        <a:rPr sz="2025">
                          <a:solidFill>
                            <a:srgbClr val="152F40"/>
                          </a:solidFill>
                          <a:latin typeface="Arial"/>
                          <a:ea typeface="Arial"/>
                          <a:cs typeface="Arial"/>
                        </a:rPr>
                        <a:t>Choose family finalists, champion, and cutoff</a:t>
                      </a:r>
                    </a:p>
                  </a:txBody>
                  <a:tcPr marL="114300" marR="114300" marT="85725" marB="85725" anchor="ctr">
                    <a:lnR w="6668">
                      <a:solidFill>
                        <a:srgbClr val="CAD5DA"/>
                      </a:solidFill>
                      <a:prstDash val="solid"/>
                    </a:lnR>
                    <a:lnB w="6668">
                      <a:solidFill>
                        <a:srgbClr val="CAD5DA"/>
                      </a:solidFill>
                      <a:prstDash val="solid"/>
                    </a:lnB>
                    <a:solidFill>
                      <a:srgbClr val="FFFFFF"/>
                    </a:solidFill>
                  </a:tcPr>
                </a:tc>
              </a:tr>
              <a:tr h="519113">
                <a:tc>
                  <a:txBody>
                    <a:bodyPr/>
                    <a:lstStyle/>
                    <a:p>
                      <a:r>
                        <a:rPr sz="2025">
                          <a:solidFill>
                            <a:srgbClr val="152F40"/>
                          </a:solidFill>
                          <a:latin typeface="Arial"/>
                          <a:ea typeface="Arial"/>
                          <a:cs typeface="Arial"/>
                        </a:rPr>
                        <a:t>Final 15%</a:t>
                      </a:r>
                    </a:p>
                  </a:txBody>
                  <a:tcPr marL="114300" marR="114300" marT="85725" marB="85725" anchor="ctr">
                    <a:lnL w="6668">
                      <a:solidFill>
                        <a:srgbClr val="CAD5DA"/>
                      </a:solidFill>
                      <a:prstDash val="solid"/>
                    </a:lnL>
                    <a:lnR w="6668">
                      <a:solidFill>
                        <a:srgbClr val="CAD5DA"/>
                      </a:solidFill>
                      <a:prstDash val="solid"/>
                    </a:lnR>
                    <a:lnB w="6668">
                      <a:solidFill>
                        <a:srgbClr val="CAD5DA"/>
                      </a:solidFill>
                      <a:prstDash val="solid"/>
                    </a:lnB>
                    <a:solidFill>
                      <a:srgbClr val="FFFFFF"/>
                    </a:solidFill>
                  </a:tcPr>
                </a:tc>
                <a:tc>
                  <a:txBody>
                    <a:bodyPr/>
                    <a:lstStyle/>
                    <a:p>
                      <a:r>
                        <a:rPr sz="2025">
                          <a:solidFill>
                            <a:srgbClr val="152F40"/>
                          </a:solidFill>
                          <a:latin typeface="Arial"/>
                          <a:ea typeface="Arial"/>
                          <a:cs typeface="Arial"/>
                        </a:rPr>
                        <a:t>6,179</a:t>
                      </a:r>
                    </a:p>
                  </a:txBody>
                  <a:tcPr marL="114300" marR="114300" marT="85725" marB="85725" anchor="ctr">
                    <a:lnR w="6668">
                      <a:solidFill>
                        <a:srgbClr val="CAD5DA"/>
                      </a:solidFill>
                      <a:prstDash val="solid"/>
                    </a:lnR>
                    <a:lnB w="6668">
                      <a:solidFill>
                        <a:srgbClr val="CAD5DA"/>
                      </a:solidFill>
                      <a:prstDash val="solid"/>
                    </a:lnB>
                    <a:solidFill>
                      <a:srgbClr val="FFFFFF"/>
                    </a:solidFill>
                  </a:tcPr>
                </a:tc>
                <a:tc>
                  <a:txBody>
                    <a:bodyPr/>
                    <a:lstStyle/>
                    <a:p>
                      <a:r>
                        <a:rPr sz="2025">
                          <a:solidFill>
                            <a:srgbClr val="152F40"/>
                          </a:solidFill>
                          <a:latin typeface="Arial"/>
                          <a:ea typeface="Arial"/>
                          <a:cs typeface="Arial"/>
                        </a:rPr>
                        <a:t>Evaluate frozen choices once</a:t>
                      </a:r>
                    </a:p>
                  </a:txBody>
                  <a:tcPr marL="114300" marR="114300" marT="85725" marB="85725" anchor="ctr">
                    <a:lnR w="6668">
                      <a:solidFill>
                        <a:srgbClr val="CAD5DA"/>
                      </a:solidFill>
                      <a:prstDash val="solid"/>
                    </a:lnR>
                    <a:lnB w="6668">
                      <a:solidFill>
                        <a:srgbClr val="CAD5DA"/>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50B71AD4-F0F6-4203-97B6-08E069BD4F92}"/>
              </a:ext>
            </a:extLst>
          </p:cNvPr>
          <p:cNvSpPr>
            <a:spLocks xmlns:a="http://schemas.openxmlformats.org/drawingml/2006/main" noGrp="1"/>
          </p:cNvSpPr>
          <p:nvPr/>
        </p:nvSpPr>
        <p:spPr>
          <a:xfrm xmlns:a="http://schemas.openxmlformats.org/drawingml/2006/main">
            <a:off x="609600" y="39338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087F8C"/>
                </a:solidFill>
                <a:latin typeface="Arial"/>
                <a:ea typeface="Arial"/>
                <a:cs typeface="Arial"/>
              </a:defRPr>
            </a:defPPr>
            <a:lvl1pPr>
              <a:defRPr sz="2175" b="1">
                <a:solidFill>
                  <a:srgbClr val="087F8C"/>
                </a:solidFill>
                <a:latin typeface="Arial"/>
                <a:ea typeface="Arial"/>
                <a:cs typeface="Arial"/>
              </a:defRPr>
            </a:lvl1pPr>
            <a:lvl2pPr>
              <a:defRPr sz="2175" b="1">
                <a:solidFill>
                  <a:srgbClr val="087F8C"/>
                </a:solidFill>
                <a:latin typeface="Arial"/>
                <a:ea typeface="Arial"/>
                <a:cs typeface="Arial"/>
              </a:defRPr>
            </a:lvl2pPr>
            <a:lvl3pPr>
              <a:defRPr sz="2175" b="1">
                <a:solidFill>
                  <a:srgbClr val="087F8C"/>
                </a:solidFill>
                <a:latin typeface="Arial"/>
                <a:ea typeface="Arial"/>
                <a:cs typeface="Arial"/>
              </a:defRPr>
            </a:lvl3pPr>
            <a:lvl4pPr>
              <a:defRPr sz="2175" b="1">
                <a:solidFill>
                  <a:srgbClr val="087F8C"/>
                </a:solidFill>
                <a:latin typeface="Arial"/>
                <a:ea typeface="Arial"/>
                <a:cs typeface="Arial"/>
              </a:defRPr>
            </a:lvl4pPr>
            <a:lvl5pPr>
              <a:defRPr sz="2175" b="1">
                <a:solidFill>
                  <a:srgbClr val="087F8C"/>
                </a:solidFill>
                <a:latin typeface="Arial"/>
                <a:ea typeface="Arial"/>
                <a:cs typeface="Arial"/>
              </a:defRPr>
            </a:lvl5pPr>
            <a:lvl6pPr>
              <a:defRPr sz="2175" b="1">
                <a:solidFill>
                  <a:srgbClr val="087F8C"/>
                </a:solidFill>
                <a:latin typeface="Arial"/>
                <a:ea typeface="Arial"/>
                <a:cs typeface="Arial"/>
              </a:defRPr>
            </a:lvl6pPr>
            <a:lvl7pPr>
              <a:defRPr sz="2175" b="1">
                <a:solidFill>
                  <a:srgbClr val="087F8C"/>
                </a:solidFill>
                <a:latin typeface="Arial"/>
                <a:ea typeface="Arial"/>
                <a:cs typeface="Arial"/>
              </a:defRPr>
            </a:lvl7pPr>
            <a:lvl8pPr>
              <a:defRPr sz="2175" b="1">
                <a:solidFill>
                  <a:srgbClr val="087F8C"/>
                </a:solidFill>
                <a:latin typeface="Arial"/>
                <a:ea typeface="Arial"/>
                <a:cs typeface="Arial"/>
              </a:defRPr>
            </a:lvl8pPr>
            <a:lvl9pPr>
              <a:defRPr sz="2175" b="1">
                <a:solidFill>
                  <a:srgbClr val="087F8C"/>
                </a:solidFill>
                <a:latin typeface="Arial"/>
                <a:ea typeface="Arial"/>
                <a:cs typeface="Arial"/>
              </a:defRPr>
            </a:lvl9pPr>
          </a:lstStyle>
          <a:p xmlns:a="http://schemas.openxmlformats.org/drawingml/2006/main">
            <a:pPr>
              <a:defRPr sz="2175" b="1">
                <a:solidFill>
                  <a:srgbClr val="087F8C"/>
                </a:solidFill>
                <a:latin typeface="Arial"/>
                <a:ea typeface="Arial"/>
                <a:cs typeface="Arial"/>
              </a:defRPr>
            </a:pPr>
            <a:r>
              <a:rPr sz="2175" b="1">
                <a:solidFill>
                  <a:srgbClr val="087F8C"/>
                </a:solidFill>
                <a:latin typeface="Arial"/>
                <a:ea typeface="Arial"/>
                <a:cs typeface="Arial"/>
              </a:rPr>
              <a:t>Scoring happens before the proposed contact</a:t>
            </a:r>
          </a:p>
        </p:txBody>
      </p:sp>
      <p:sp>
        <p:nvSpPr>
          <p:cNvPr id="5" name="">
            <a:extLst xmlns:a="http://schemas.openxmlformats.org/drawingml/2006/main">
              <a:ext uri="{FF2B5EF4-FFF2-40B4-BE49-F238E27FC236}">
                <a16:creationId xmlns:a16="http://schemas.microsoft.com/office/drawing/2014/main" id="{182C7F4A-488D-4112-B175-122346401CE7}"/>
              </a:ext>
            </a:extLst>
          </p:cNvPr>
          <p:cNvSpPr>
            <a:spLocks xmlns:a="http://schemas.openxmlformats.org/drawingml/2006/main" noGrp="1"/>
          </p:cNvSpPr>
          <p:nvPr/>
        </p:nvSpPr>
        <p:spPr>
          <a:xfrm xmlns:a="http://schemas.openxmlformats.org/drawingml/2006/main">
            <a:off x="609600" y="44386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a:solidFill>
                  <a:srgbClr val="152F40"/>
                </a:solidFill>
                <a:latin typeface="Arial"/>
                <a:ea typeface="Arial"/>
                <a:cs typeface="Arial"/>
              </a:defRPr>
            </a:defPPr>
            <a:lvl1pPr>
              <a:defRPr sz="2025">
                <a:solidFill>
                  <a:srgbClr val="152F40"/>
                </a:solidFill>
                <a:latin typeface="Arial"/>
                <a:ea typeface="Arial"/>
                <a:cs typeface="Arial"/>
              </a:defRPr>
            </a:lvl1pPr>
            <a:lvl2pPr>
              <a:defRPr sz="2025">
                <a:solidFill>
                  <a:srgbClr val="152F40"/>
                </a:solidFill>
                <a:latin typeface="Arial"/>
                <a:ea typeface="Arial"/>
                <a:cs typeface="Arial"/>
              </a:defRPr>
            </a:lvl2pPr>
            <a:lvl3pPr>
              <a:defRPr sz="2025">
                <a:solidFill>
                  <a:srgbClr val="152F40"/>
                </a:solidFill>
                <a:latin typeface="Arial"/>
                <a:ea typeface="Arial"/>
                <a:cs typeface="Arial"/>
              </a:defRPr>
            </a:lvl3pPr>
            <a:lvl4pPr>
              <a:defRPr sz="2025">
                <a:solidFill>
                  <a:srgbClr val="152F40"/>
                </a:solidFill>
                <a:latin typeface="Arial"/>
                <a:ea typeface="Arial"/>
                <a:cs typeface="Arial"/>
              </a:defRPr>
            </a:lvl4pPr>
            <a:lvl5pPr>
              <a:defRPr sz="2025">
                <a:solidFill>
                  <a:srgbClr val="152F40"/>
                </a:solidFill>
                <a:latin typeface="Arial"/>
                <a:ea typeface="Arial"/>
                <a:cs typeface="Arial"/>
              </a:defRPr>
            </a:lvl5pPr>
            <a:lvl6pPr>
              <a:defRPr sz="2025">
                <a:solidFill>
                  <a:srgbClr val="152F40"/>
                </a:solidFill>
                <a:latin typeface="Arial"/>
                <a:ea typeface="Arial"/>
                <a:cs typeface="Arial"/>
              </a:defRPr>
            </a:lvl6pPr>
            <a:lvl7pPr>
              <a:defRPr sz="2025">
                <a:solidFill>
                  <a:srgbClr val="152F40"/>
                </a:solidFill>
                <a:latin typeface="Arial"/>
                <a:ea typeface="Arial"/>
                <a:cs typeface="Arial"/>
              </a:defRPr>
            </a:lvl7pPr>
            <a:lvl8pPr>
              <a:defRPr sz="2025">
                <a:solidFill>
                  <a:srgbClr val="152F40"/>
                </a:solidFill>
                <a:latin typeface="Arial"/>
                <a:ea typeface="Arial"/>
                <a:cs typeface="Arial"/>
              </a:defRPr>
            </a:lvl8pPr>
            <a:lvl9pPr>
              <a:defRPr sz="2025">
                <a:solidFill>
                  <a:srgbClr val="152F40"/>
                </a:solidFill>
                <a:latin typeface="Arial"/>
                <a:ea typeface="Arial"/>
                <a:cs typeface="Arial"/>
              </a:defRPr>
            </a:lvl9pPr>
          </a:lstStyle>
          <a:p xmlns:a="http://schemas.openxmlformats.org/drawingml/2006/main">
            <a:pPr>
              <a:defRPr sz="2025">
                <a:solidFill>
                  <a:srgbClr val="152F40"/>
                </a:solidFill>
                <a:latin typeface="Arial"/>
                <a:ea typeface="Arial"/>
                <a:cs typeface="Arial"/>
              </a:defRPr>
            </a:pPr>
            <a:r>
              <a:rPr sz="2025">
                <a:solidFill>
                  <a:srgbClr val="152F40"/>
                </a:solidFill>
                <a:latin typeface="Arial"/>
                <a:ea typeface="Arial"/>
                <a:cs typeface="Arial"/>
              </a:rPr>
              <a:t>Exclude duration and uncertain current-contact fields.</a:t>
            </a:r>
          </a:p>
          <a:p xmlns:a="http://schemas.openxmlformats.org/drawingml/2006/main">
            <a:pPr>
              <a:defRPr sz="2025">
                <a:solidFill>
                  <a:srgbClr val="152F40"/>
                </a:solidFill>
                <a:latin typeface="Arial"/>
                <a:ea typeface="Arial"/>
                <a:cs typeface="Arial"/>
              </a:defRPr>
            </a:pPr>
            <a:r>
              <a:rPr sz="2025">
                <a:solidFill>
                  <a:srgbClr val="152F40"/>
                </a:solidFill>
                <a:latin typeface="Arial"/>
                <a:ea typeface="Arial"/>
                <a:cs typeface="Arial"/>
              </a:rPr>
              <a:t>Keep macro indicators out of the conservative model.</a:t>
            </a:r>
          </a:p>
        </p:txBody>
      </p:sp>
      <p:sp>
        <p:nvSpPr>
          <p:cNvPr id="6" name="">
            <a:extLst xmlns:a="http://schemas.openxmlformats.org/drawingml/2006/main">
              <a:ext uri="{FF2B5EF4-FFF2-40B4-BE49-F238E27FC236}">
                <a16:creationId xmlns:a16="http://schemas.microsoft.com/office/drawing/2014/main" id="{F3E7131F-E25D-4EC3-B042-72C7B939F23F}"/>
              </a:ext>
            </a:extLst>
          </p:cNvPr>
          <p:cNvSpPr>
            <a:spLocks xmlns:a="http://schemas.openxmlformats.org/drawingml/2006/main" noGrp="1"/>
          </p:cNvSpPr>
          <p:nvPr/>
        </p:nvSpPr>
        <p:spPr>
          <a:xfrm xmlns:a="http://schemas.openxmlformats.org/drawingml/2006/main">
            <a:off x="609600" y="5467350"/>
            <a:ext cx="10668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a:solidFill>
                  <a:srgbClr val="5B6B75"/>
                </a:solidFill>
                <a:latin typeface="Arial"/>
                <a:ea typeface="Arial"/>
                <a:cs typeface="Arial"/>
              </a:defRPr>
            </a:defPPr>
            <a:lvl1pPr>
              <a:defRPr sz="1875">
                <a:solidFill>
                  <a:srgbClr val="5B6B75"/>
                </a:solidFill>
                <a:latin typeface="Arial"/>
                <a:ea typeface="Arial"/>
                <a:cs typeface="Arial"/>
              </a:defRPr>
            </a:lvl1pPr>
            <a:lvl2pPr>
              <a:defRPr sz="1875">
                <a:solidFill>
                  <a:srgbClr val="5B6B75"/>
                </a:solidFill>
                <a:latin typeface="Arial"/>
                <a:ea typeface="Arial"/>
                <a:cs typeface="Arial"/>
              </a:defRPr>
            </a:lvl2pPr>
            <a:lvl3pPr>
              <a:defRPr sz="1875">
                <a:solidFill>
                  <a:srgbClr val="5B6B75"/>
                </a:solidFill>
                <a:latin typeface="Arial"/>
                <a:ea typeface="Arial"/>
                <a:cs typeface="Arial"/>
              </a:defRPr>
            </a:lvl3pPr>
            <a:lvl4pPr>
              <a:defRPr sz="1875">
                <a:solidFill>
                  <a:srgbClr val="5B6B75"/>
                </a:solidFill>
                <a:latin typeface="Arial"/>
                <a:ea typeface="Arial"/>
                <a:cs typeface="Arial"/>
              </a:defRPr>
            </a:lvl4pPr>
            <a:lvl5pPr>
              <a:defRPr sz="1875">
                <a:solidFill>
                  <a:srgbClr val="5B6B75"/>
                </a:solidFill>
                <a:latin typeface="Arial"/>
                <a:ea typeface="Arial"/>
                <a:cs typeface="Arial"/>
              </a:defRPr>
            </a:lvl5pPr>
            <a:lvl6pPr>
              <a:defRPr sz="1875">
                <a:solidFill>
                  <a:srgbClr val="5B6B75"/>
                </a:solidFill>
                <a:latin typeface="Arial"/>
                <a:ea typeface="Arial"/>
                <a:cs typeface="Arial"/>
              </a:defRPr>
            </a:lvl6pPr>
            <a:lvl7pPr>
              <a:defRPr sz="1875">
                <a:solidFill>
                  <a:srgbClr val="5B6B75"/>
                </a:solidFill>
                <a:latin typeface="Arial"/>
                <a:ea typeface="Arial"/>
                <a:cs typeface="Arial"/>
              </a:defRPr>
            </a:lvl7pPr>
            <a:lvl8pPr>
              <a:defRPr sz="1875">
                <a:solidFill>
                  <a:srgbClr val="5B6B75"/>
                </a:solidFill>
                <a:latin typeface="Arial"/>
                <a:ea typeface="Arial"/>
                <a:cs typeface="Arial"/>
              </a:defRPr>
            </a:lvl8pPr>
            <a:lvl9pPr>
              <a:defRPr sz="1875">
                <a:solidFill>
                  <a:srgbClr val="5B6B75"/>
                </a:solidFill>
                <a:latin typeface="Arial"/>
                <a:ea typeface="Arial"/>
                <a:cs typeface="Arial"/>
              </a:defRPr>
            </a:lvl9pPr>
          </a:lstStyle>
          <a:p xmlns:a="http://schemas.openxmlformats.org/drawingml/2006/main">
            <a:pPr>
              <a:defRPr sz="1875">
                <a:solidFill>
                  <a:srgbClr val="5B6B75"/>
                </a:solidFill>
                <a:latin typeface="Arial"/>
                <a:ea typeface="Arial"/>
                <a:cs typeface="Arial"/>
              </a:defRPr>
            </a:pPr>
            <a:r>
              <a:rPr sz="1875">
                <a:solidFill>
                  <a:srgbClr val="5B6B75"/>
                </a:solidFill>
                <a:latin typeface="Arial"/>
                <a:ea typeface="Arial"/>
                <a:cs typeface="Arial"/>
              </a:rPr>
              <a:t>Freeze on validation Precision@20%, then AP.</a:t>
            </a:r>
          </a:p>
          <a:p xmlns:a="http://schemas.openxmlformats.org/drawingml/2006/main">
            <a:pPr>
              <a:defRPr sz="1875">
                <a:solidFill>
                  <a:srgbClr val="5B6B75"/>
                </a:solidFill>
                <a:latin typeface="Arial"/>
                <a:ea typeface="Arial"/>
                <a:cs typeface="Arial"/>
              </a:defRPr>
            </a:pPr>
            <a:r>
              <a:rPr sz="1875">
                <a:solidFill>
                  <a:srgbClr val="5B6B75"/>
                </a:solidFill>
                <a:latin typeface="Arial"/>
                <a:ea typeface="Arial"/>
                <a:cs typeface="Arial"/>
              </a:rPr>
              <a:t>Prevalence: 5.6% train, 10.7% validation, 38.5% test.</a:t>
            </a:r>
          </a:p>
        </p:txBody>
      </p:sp>
    </p:spTree>
    <p:extLst>
      <p:ext uri="{BB962C8B-B14F-4D97-AF65-F5344CB8AC3E}">
        <p14:creationId xmlns:p14="http://schemas.microsoft.com/office/powerpoint/2010/main" val="62848813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D232C6B-9B03-4591-8E86-D89726C9288E}"/>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02F45"/>
                </a:solidFill>
                <a:latin typeface="Arial"/>
                <a:ea typeface="Arial"/>
                <a:cs typeface="Arial"/>
              </a:defRPr>
            </a:defPPr>
            <a:lvl1pPr>
              <a:defRPr sz="3225" b="1">
                <a:solidFill>
                  <a:srgbClr val="102F45"/>
                </a:solidFill>
                <a:latin typeface="Arial"/>
                <a:ea typeface="Arial"/>
                <a:cs typeface="Arial"/>
              </a:defRPr>
            </a:lvl1pPr>
            <a:lvl2pPr>
              <a:defRPr sz="3225" b="1">
                <a:solidFill>
                  <a:srgbClr val="102F45"/>
                </a:solidFill>
                <a:latin typeface="Arial"/>
                <a:ea typeface="Arial"/>
                <a:cs typeface="Arial"/>
              </a:defRPr>
            </a:lvl2pPr>
            <a:lvl3pPr>
              <a:defRPr sz="3225" b="1">
                <a:solidFill>
                  <a:srgbClr val="102F45"/>
                </a:solidFill>
                <a:latin typeface="Arial"/>
                <a:ea typeface="Arial"/>
                <a:cs typeface="Arial"/>
              </a:defRPr>
            </a:lvl3pPr>
            <a:lvl4pPr>
              <a:defRPr sz="3225" b="1">
                <a:solidFill>
                  <a:srgbClr val="102F45"/>
                </a:solidFill>
                <a:latin typeface="Arial"/>
                <a:ea typeface="Arial"/>
                <a:cs typeface="Arial"/>
              </a:defRPr>
            </a:lvl4pPr>
            <a:lvl5pPr>
              <a:defRPr sz="3225" b="1">
                <a:solidFill>
                  <a:srgbClr val="102F45"/>
                </a:solidFill>
                <a:latin typeface="Arial"/>
                <a:ea typeface="Arial"/>
                <a:cs typeface="Arial"/>
              </a:defRPr>
            </a:lvl5pPr>
            <a:lvl6pPr>
              <a:defRPr sz="3225" b="1">
                <a:solidFill>
                  <a:srgbClr val="102F45"/>
                </a:solidFill>
                <a:latin typeface="Arial"/>
                <a:ea typeface="Arial"/>
                <a:cs typeface="Arial"/>
              </a:defRPr>
            </a:lvl6pPr>
            <a:lvl7pPr>
              <a:defRPr sz="3225" b="1">
                <a:solidFill>
                  <a:srgbClr val="102F45"/>
                </a:solidFill>
                <a:latin typeface="Arial"/>
                <a:ea typeface="Arial"/>
                <a:cs typeface="Arial"/>
              </a:defRPr>
            </a:lvl7pPr>
            <a:lvl8pPr>
              <a:defRPr sz="3225" b="1">
                <a:solidFill>
                  <a:srgbClr val="102F45"/>
                </a:solidFill>
                <a:latin typeface="Arial"/>
                <a:ea typeface="Arial"/>
                <a:cs typeface="Arial"/>
              </a:defRPr>
            </a:lvl8pPr>
            <a:lvl9pPr>
              <a:defRPr sz="3225" b="1">
                <a:solidFill>
                  <a:srgbClr val="102F45"/>
                </a:solidFill>
                <a:latin typeface="Arial"/>
                <a:ea typeface="Arial"/>
                <a:cs typeface="Arial"/>
              </a:defRPr>
            </a:lvl9pPr>
          </a:lstStyle>
          <a:p xmlns:a="http://schemas.openxmlformats.org/drawingml/2006/main">
            <a:pPr>
              <a:defRPr sz="3225" b="1">
                <a:solidFill>
                  <a:srgbClr val="102F45"/>
                </a:solidFill>
                <a:latin typeface="Arial"/>
                <a:ea typeface="Arial"/>
                <a:cs typeface="Arial"/>
              </a:defRPr>
            </a:pPr>
            <a:r>
              <a:rPr sz="3225" b="1">
                <a:solidFill>
                  <a:srgbClr val="102F45"/>
                </a:solidFill>
                <a:latin typeface="Arial"/>
                <a:ea typeface="Arial"/>
                <a:cs typeface="Arial"/>
              </a:rPr>
              <a:t>Measured results on the final chronological holdout</a:t>
            </a:r>
          </a:p>
        </p:txBody>
      </p:sp>
      <p:sp>
        <p:nvSpPr>
          <p:cNvPr id="2" name="">
            <a:extLst xmlns:a="http://schemas.openxmlformats.org/drawingml/2006/main">
              <a:ext uri="{FF2B5EF4-FFF2-40B4-BE49-F238E27FC236}">
                <a16:creationId xmlns:a16="http://schemas.microsoft.com/office/drawing/2014/main" id="{E85F603E-CFAE-43D6-87B4-83911039C699}"/>
              </a:ext>
            </a:extLst>
          </p:cNvPr>
          <p:cNvSpPr>
            <a:spLocks xmlns:a="http://schemas.openxmlformats.org/drawingml/2006/main" noGrp="1"/>
          </p:cNvSpPr>
          <p:nvPr/>
        </p:nvSpPr>
        <p:spPr>
          <a:xfrm xmlns:a="http://schemas.openxmlformats.org/drawingml/2006/main">
            <a:off x="609600" y="64484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a:solidFill>
                  <a:srgbClr val="5B6B75"/>
                </a:solidFill>
                <a:latin typeface="Arial"/>
                <a:ea typeface="Arial"/>
                <a:cs typeface="Arial"/>
              </a:defRPr>
            </a:defPPr>
            <a:lvl1pPr>
              <a:defRPr sz="1275">
                <a:solidFill>
                  <a:srgbClr val="5B6B75"/>
                </a:solidFill>
                <a:latin typeface="Arial"/>
                <a:ea typeface="Arial"/>
                <a:cs typeface="Arial"/>
              </a:defRPr>
            </a:lvl1pPr>
            <a:lvl2pPr>
              <a:defRPr sz="1275">
                <a:solidFill>
                  <a:srgbClr val="5B6B75"/>
                </a:solidFill>
                <a:latin typeface="Arial"/>
                <a:ea typeface="Arial"/>
                <a:cs typeface="Arial"/>
              </a:defRPr>
            </a:lvl2pPr>
            <a:lvl3pPr>
              <a:defRPr sz="1275">
                <a:solidFill>
                  <a:srgbClr val="5B6B75"/>
                </a:solidFill>
                <a:latin typeface="Arial"/>
                <a:ea typeface="Arial"/>
                <a:cs typeface="Arial"/>
              </a:defRPr>
            </a:lvl3pPr>
            <a:lvl4pPr>
              <a:defRPr sz="1275">
                <a:solidFill>
                  <a:srgbClr val="5B6B75"/>
                </a:solidFill>
                <a:latin typeface="Arial"/>
                <a:ea typeface="Arial"/>
                <a:cs typeface="Arial"/>
              </a:defRPr>
            </a:lvl4pPr>
            <a:lvl5pPr>
              <a:defRPr sz="1275">
                <a:solidFill>
                  <a:srgbClr val="5B6B75"/>
                </a:solidFill>
                <a:latin typeface="Arial"/>
                <a:ea typeface="Arial"/>
                <a:cs typeface="Arial"/>
              </a:defRPr>
            </a:lvl5pPr>
            <a:lvl6pPr>
              <a:defRPr sz="1275">
                <a:solidFill>
                  <a:srgbClr val="5B6B75"/>
                </a:solidFill>
                <a:latin typeface="Arial"/>
                <a:ea typeface="Arial"/>
                <a:cs typeface="Arial"/>
              </a:defRPr>
            </a:lvl6pPr>
            <a:lvl7pPr>
              <a:defRPr sz="1275">
                <a:solidFill>
                  <a:srgbClr val="5B6B75"/>
                </a:solidFill>
                <a:latin typeface="Arial"/>
                <a:ea typeface="Arial"/>
                <a:cs typeface="Arial"/>
              </a:defRPr>
            </a:lvl7pPr>
            <a:lvl8pPr>
              <a:defRPr sz="1275">
                <a:solidFill>
                  <a:srgbClr val="5B6B75"/>
                </a:solidFill>
                <a:latin typeface="Arial"/>
                <a:ea typeface="Arial"/>
                <a:cs typeface="Arial"/>
              </a:defRPr>
            </a:lvl8pPr>
            <a:lvl9pPr>
              <a:defRPr sz="1275">
                <a:solidFill>
                  <a:srgbClr val="5B6B75"/>
                </a:solidFill>
                <a:latin typeface="Arial"/>
                <a:ea typeface="Arial"/>
                <a:cs typeface="Arial"/>
              </a:defRPr>
            </a:lvl9pPr>
          </a:lstStyle>
          <a:p xmlns:a="http://schemas.openxmlformats.org/drawingml/2006/main">
            <a:pPr>
              <a:defRPr sz="1275">
                <a:solidFill>
                  <a:srgbClr val="5B6B75"/>
                </a:solidFill>
                <a:latin typeface="Arial"/>
                <a:ea typeface="Arial"/>
                <a:cs typeface="Arial"/>
              </a:defRPr>
            </a:pPr>
            <a:r>
              <a:rPr sz="1275">
                <a:solidFill>
                  <a:srgbClr val="5B6B75"/>
                </a:solidFill>
                <a:latin typeface="Arial"/>
                <a:ea typeface="Arial"/>
                <a:cs typeface="Arial"/>
              </a:rPr>
              <a:t>Independent banking analytics prototype   4/5</a:t>
            </a:r>
          </a:p>
        </p:txBody>
      </p:sp>
      <p:sp>
        <p:nvSpPr>
          <p:cNvPr id="3" name="">
            <a:extLst xmlns:a="http://schemas.openxmlformats.org/drawingml/2006/main">
              <a:ext uri="{FF2B5EF4-FFF2-40B4-BE49-F238E27FC236}">
                <a16:creationId xmlns:a16="http://schemas.microsoft.com/office/drawing/2014/main" id="{AB1048E3-82EE-44AF-89FF-8406C2D126A3}"/>
              </a:ext>
            </a:extLst>
          </p:cNvPr>
          <p:cNvSpPr>
            <a:spLocks xmlns:a="http://schemas.openxmlformats.org/drawingml/2006/main" noGrp="1"/>
          </p:cNvSpPr>
          <p:nvPr/>
        </p:nvSpPr>
        <p:spPr>
          <a:xfrm xmlns:a="http://schemas.openxmlformats.org/drawingml/2006/main">
            <a:off x="609600" y="1304925"/>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a:solidFill>
                  <a:srgbClr val="5B6B75"/>
                </a:solidFill>
                <a:latin typeface="Arial"/>
                <a:ea typeface="Arial"/>
                <a:cs typeface="Arial"/>
              </a:defRPr>
            </a:defPPr>
            <a:lvl1pPr>
              <a:defRPr sz="1875">
                <a:solidFill>
                  <a:srgbClr val="5B6B75"/>
                </a:solidFill>
                <a:latin typeface="Arial"/>
                <a:ea typeface="Arial"/>
                <a:cs typeface="Arial"/>
              </a:defRPr>
            </a:lvl1pPr>
            <a:lvl2pPr>
              <a:defRPr sz="1875">
                <a:solidFill>
                  <a:srgbClr val="5B6B75"/>
                </a:solidFill>
                <a:latin typeface="Arial"/>
                <a:ea typeface="Arial"/>
                <a:cs typeface="Arial"/>
              </a:defRPr>
            </a:lvl2pPr>
            <a:lvl3pPr>
              <a:defRPr sz="1875">
                <a:solidFill>
                  <a:srgbClr val="5B6B75"/>
                </a:solidFill>
                <a:latin typeface="Arial"/>
                <a:ea typeface="Arial"/>
                <a:cs typeface="Arial"/>
              </a:defRPr>
            </a:lvl3pPr>
            <a:lvl4pPr>
              <a:defRPr sz="1875">
                <a:solidFill>
                  <a:srgbClr val="5B6B75"/>
                </a:solidFill>
                <a:latin typeface="Arial"/>
                <a:ea typeface="Arial"/>
                <a:cs typeface="Arial"/>
              </a:defRPr>
            </a:lvl4pPr>
            <a:lvl5pPr>
              <a:defRPr sz="1875">
                <a:solidFill>
                  <a:srgbClr val="5B6B75"/>
                </a:solidFill>
                <a:latin typeface="Arial"/>
                <a:ea typeface="Arial"/>
                <a:cs typeface="Arial"/>
              </a:defRPr>
            </a:lvl5pPr>
            <a:lvl6pPr>
              <a:defRPr sz="1875">
                <a:solidFill>
                  <a:srgbClr val="5B6B75"/>
                </a:solidFill>
                <a:latin typeface="Arial"/>
                <a:ea typeface="Arial"/>
                <a:cs typeface="Arial"/>
              </a:defRPr>
            </a:lvl6pPr>
            <a:lvl7pPr>
              <a:defRPr sz="1875">
                <a:solidFill>
                  <a:srgbClr val="5B6B75"/>
                </a:solidFill>
                <a:latin typeface="Arial"/>
                <a:ea typeface="Arial"/>
                <a:cs typeface="Arial"/>
              </a:defRPr>
            </a:lvl7pPr>
            <a:lvl8pPr>
              <a:defRPr sz="1875">
                <a:solidFill>
                  <a:srgbClr val="5B6B75"/>
                </a:solidFill>
                <a:latin typeface="Arial"/>
                <a:ea typeface="Arial"/>
                <a:cs typeface="Arial"/>
              </a:defRPr>
            </a:lvl8pPr>
            <a:lvl9pPr>
              <a:defRPr sz="1875">
                <a:solidFill>
                  <a:srgbClr val="5B6B75"/>
                </a:solidFill>
                <a:latin typeface="Arial"/>
                <a:ea typeface="Arial"/>
                <a:cs typeface="Arial"/>
              </a:defRPr>
            </a:lvl9pPr>
          </a:lstStyle>
          <a:p xmlns:a="http://schemas.openxmlformats.org/drawingml/2006/main">
            <a:pPr>
              <a:defRPr sz="1875">
                <a:solidFill>
                  <a:srgbClr val="5B6B75"/>
                </a:solidFill>
                <a:latin typeface="Arial"/>
                <a:ea typeface="Arial"/>
                <a:cs typeface="Arial"/>
              </a:defRPr>
            </a:pPr>
            <a:r>
              <a:rPr sz="1875">
                <a:solidFill>
                  <a:srgbClr val="5B6B75"/>
                </a:solidFill>
                <a:latin typeface="Arial"/>
                <a:ea typeface="Arial"/>
                <a:cs typeface="Arial"/>
              </a:rPr>
              <a:t>Test: 6,179 records, 2,376 subscriptions, 38.5% base rate</a:t>
            </a:r>
          </a:p>
        </p:txBody>
      </p:sp>
      <p:graphicFrame>
        <p:nvGraphicFramePr>
          <p:cNvPr id="4" name="">
            <a:extLst xmlns:a="http://schemas.openxmlformats.org/drawingml/2006/main">
              <a:ext uri="{FF2B5EF4-FFF2-40B4-BE49-F238E27FC236}">
                <a16:creationId xmlns:a16="http://schemas.microsoft.com/office/drawing/2014/main" id="{B6F8C739-7F6C-4E88-AD60-B064E6A21035}"/>
              </a:ext>
            </a:extLst>
          </p:cNvPr>
          <p:cNvGraphicFramePr/>
          <p:nvPr/>
        </p:nvGraphicFramePr>
        <p:xfrm>
          <a:off xmlns:a="http://schemas.openxmlformats.org/drawingml/2006/main" x="609600" y="1724025"/>
          <a:ext xmlns:a="http://schemas.openxmlformats.org/drawingml/2006/main" cx="10972800" cy="1990725"/>
        </p:xfrm>
        <a:graphic xmlns:a="http://schemas.openxmlformats.org/drawingml/2006/main">
          <a:graphicData uri="http://schemas.openxmlformats.org/drawingml/2006/table">
            <a:tbl>
              <a:tblPr/>
              <a:tblGrid>
                <a:gridCol w="2476500"/>
                <a:gridCol w="1314450"/>
                <a:gridCol w="1219200"/>
                <a:gridCol w="1314450"/>
                <a:gridCol w="1619250"/>
                <a:gridCol w="1504950"/>
                <a:gridCol w="1524000"/>
              </a:tblGrid>
              <a:tr h="676275">
                <a:tc>
                  <a:txBody>
                    <a:bodyPr/>
                    <a:lstStyle/>
                    <a:p>
                      <a:r>
                        <a:rPr sz="1725" b="1">
                          <a:solidFill>
                            <a:srgbClr val="FFFFFF"/>
                          </a:solidFill>
                          <a:latin typeface="Arial"/>
                          <a:ea typeface="Arial"/>
                          <a:cs typeface="Arial"/>
                        </a:rPr>
                        <a:t>Model</a:t>
                      </a:r>
                    </a:p>
                  </a:txBody>
                  <a:tcPr marL="114300" marR="114300" marT="85725" marB="85725" anchor="ctr">
                    <a:lnL w="6668">
                      <a:solidFill>
                        <a:srgbClr val="CAD5DA"/>
                      </a:solidFill>
                      <a:prstDash val="solid"/>
                    </a:lnL>
                    <a:lnR w="6668">
                      <a:solidFill>
                        <a:srgbClr val="CAD5DA"/>
                      </a:solidFill>
                      <a:prstDash val="solid"/>
                    </a:lnR>
                    <a:lnT w="6668">
                      <a:solidFill>
                        <a:srgbClr val="CAD5DA"/>
                      </a:solidFill>
                      <a:prstDash val="solid"/>
                    </a:lnT>
                    <a:lnB w="6668">
                      <a:solidFill>
                        <a:srgbClr val="CAD5DA"/>
                      </a:solidFill>
                      <a:prstDash val="solid"/>
                    </a:lnB>
                    <a:solidFill>
                      <a:srgbClr val="102F45"/>
                    </a:solidFill>
                  </a:tcPr>
                </a:tc>
                <a:tc>
                  <a:txBody>
                    <a:bodyPr/>
                    <a:lstStyle/>
                    <a:p>
                      <a:r>
                        <a:rPr sz="1725" b="1">
                          <a:solidFill>
                            <a:srgbClr val="FFFFFF"/>
                          </a:solidFill>
                          <a:latin typeface="Arial"/>
                          <a:ea typeface="Arial"/>
                          <a:cs typeface="Arial"/>
                        </a:rPr>
                        <a:t>PR-AUC</a:t>
                      </a:r>
                    </a:p>
                  </a:txBody>
                  <a:tcPr marL="114300" marR="114300" marT="85725" marB="85725" anchor="ctr">
                    <a:lnR w="6668">
                      <a:solidFill>
                        <a:srgbClr val="CAD5DA"/>
                      </a:solidFill>
                      <a:prstDash val="solid"/>
                    </a:lnR>
                    <a:lnT w="6668">
                      <a:solidFill>
                        <a:srgbClr val="CAD5DA"/>
                      </a:solidFill>
                      <a:prstDash val="solid"/>
                    </a:lnT>
                    <a:lnB w="6668">
                      <a:solidFill>
                        <a:srgbClr val="CAD5DA"/>
                      </a:solidFill>
                      <a:prstDash val="solid"/>
                    </a:lnB>
                    <a:solidFill>
                      <a:srgbClr val="102F45"/>
                    </a:solidFill>
                  </a:tcPr>
                </a:tc>
                <a:tc>
                  <a:txBody>
                    <a:bodyPr/>
                    <a:lstStyle/>
                    <a:p>
                      <a:r>
                        <a:rPr sz="1725" b="1">
                          <a:solidFill>
                            <a:srgbClr val="FFFFFF"/>
                          </a:solidFill>
                          <a:latin typeface="Arial"/>
                          <a:ea typeface="Arial"/>
                          <a:cs typeface="Arial"/>
                        </a:rPr>
                        <a:t>AP</a:t>
                      </a:r>
                    </a:p>
                  </a:txBody>
                  <a:tcPr marL="114300" marR="114300" marT="85725" marB="85725" anchor="ctr">
                    <a:lnR w="6668">
                      <a:solidFill>
                        <a:srgbClr val="CAD5DA"/>
                      </a:solidFill>
                      <a:prstDash val="solid"/>
                    </a:lnR>
                    <a:lnT w="6668">
                      <a:solidFill>
                        <a:srgbClr val="CAD5DA"/>
                      </a:solidFill>
                      <a:prstDash val="solid"/>
                    </a:lnT>
                    <a:lnB w="6668">
                      <a:solidFill>
                        <a:srgbClr val="CAD5DA"/>
                      </a:solidFill>
                      <a:prstDash val="solid"/>
                    </a:lnB>
                    <a:solidFill>
                      <a:srgbClr val="102F45"/>
                    </a:solidFill>
                  </a:tcPr>
                </a:tc>
                <a:tc>
                  <a:txBody>
                    <a:bodyPr/>
                    <a:lstStyle/>
                    <a:p>
                      <a:r>
                        <a:rPr sz="1725" b="1">
                          <a:solidFill>
                            <a:srgbClr val="FFFFFF"/>
                          </a:solidFill>
                          <a:latin typeface="Arial"/>
                          <a:ea typeface="Arial"/>
                          <a:cs typeface="Arial"/>
                        </a:rPr>
                        <a:t>ROC-AUC</a:t>
                      </a:r>
                    </a:p>
                  </a:txBody>
                  <a:tcPr marL="114300" marR="114300" marT="85725" marB="85725" anchor="ctr">
                    <a:lnR w="6668">
                      <a:solidFill>
                        <a:srgbClr val="CAD5DA"/>
                      </a:solidFill>
                      <a:prstDash val="solid"/>
                    </a:lnR>
                    <a:lnT w="6668">
                      <a:solidFill>
                        <a:srgbClr val="CAD5DA"/>
                      </a:solidFill>
                      <a:prstDash val="solid"/>
                    </a:lnT>
                    <a:lnB w="6668">
                      <a:solidFill>
                        <a:srgbClr val="CAD5DA"/>
                      </a:solidFill>
                      <a:prstDash val="solid"/>
                    </a:lnB>
                    <a:solidFill>
                      <a:srgbClr val="102F45"/>
                    </a:solidFill>
                  </a:tcPr>
                </a:tc>
                <a:tc>
                  <a:txBody>
                    <a:bodyPr/>
                    <a:lstStyle/>
                    <a:p>
                      <a:r>
                        <a:rPr sz="1725" b="1">
                          <a:solidFill>
                            <a:srgbClr val="FFFFFF"/>
                          </a:solidFill>
                          <a:latin typeface="Arial"/>
                          <a:ea typeface="Arial"/>
                          <a:cs typeface="Arial"/>
                        </a:rPr>
                        <a:t>Precision</a:t>
                      </a:r>
                    </a:p>
                    <a:p>
                      <a:r>
                        <a:rPr sz="1725" b="1">
                          <a:solidFill>
                            <a:srgbClr val="FFFFFF"/>
                          </a:solidFill>
                          <a:latin typeface="Arial"/>
                          <a:ea typeface="Arial"/>
                          <a:cs typeface="Arial"/>
                        </a:rPr>
                        <a:t>@20%</a:t>
                      </a:r>
                    </a:p>
                  </a:txBody>
                  <a:tcPr marL="114300" marR="114300" marT="85725" marB="85725" anchor="ctr">
                    <a:lnR w="6668">
                      <a:solidFill>
                        <a:srgbClr val="CAD5DA"/>
                      </a:solidFill>
                      <a:prstDash val="solid"/>
                    </a:lnR>
                    <a:lnT w="6668">
                      <a:solidFill>
                        <a:srgbClr val="CAD5DA"/>
                      </a:solidFill>
                      <a:prstDash val="solid"/>
                    </a:lnT>
                    <a:lnB w="6668">
                      <a:solidFill>
                        <a:srgbClr val="CAD5DA"/>
                      </a:solidFill>
                      <a:prstDash val="solid"/>
                    </a:lnB>
                    <a:solidFill>
                      <a:srgbClr val="102F45"/>
                    </a:solidFill>
                  </a:tcPr>
                </a:tc>
                <a:tc>
                  <a:txBody>
                    <a:bodyPr/>
                    <a:lstStyle/>
                    <a:p>
                      <a:r>
                        <a:rPr sz="1725" b="1">
                          <a:solidFill>
                            <a:srgbClr val="FFFFFF"/>
                          </a:solidFill>
                          <a:latin typeface="Arial"/>
                          <a:ea typeface="Arial"/>
                          <a:cs typeface="Arial"/>
                        </a:rPr>
                        <a:t>Lift</a:t>
                      </a:r>
                    </a:p>
                    <a:p>
                      <a:r>
                        <a:rPr sz="1725" b="1">
                          <a:solidFill>
                            <a:srgbClr val="FFFFFF"/>
                          </a:solidFill>
                          <a:latin typeface="Arial"/>
                          <a:ea typeface="Arial"/>
                          <a:cs typeface="Arial"/>
                        </a:rPr>
                        <a:t>@20%</a:t>
                      </a:r>
                    </a:p>
                  </a:txBody>
                  <a:tcPr marL="114300" marR="114300" marT="85725" marB="85725" anchor="ctr">
                    <a:lnR w="6668">
                      <a:solidFill>
                        <a:srgbClr val="CAD5DA"/>
                      </a:solidFill>
                      <a:prstDash val="solid"/>
                    </a:lnR>
                    <a:lnT w="6668">
                      <a:solidFill>
                        <a:srgbClr val="CAD5DA"/>
                      </a:solidFill>
                      <a:prstDash val="solid"/>
                    </a:lnT>
                    <a:lnB w="6668">
                      <a:solidFill>
                        <a:srgbClr val="CAD5DA"/>
                      </a:solidFill>
                      <a:prstDash val="solid"/>
                    </a:lnB>
                    <a:solidFill>
                      <a:srgbClr val="102F45"/>
                    </a:solidFill>
                  </a:tcPr>
                </a:tc>
                <a:tc>
                  <a:txBody>
                    <a:bodyPr/>
                    <a:lstStyle/>
                    <a:p>
                      <a:r>
                        <a:rPr sz="1725" b="1">
                          <a:solidFill>
                            <a:srgbClr val="FFFFFF"/>
                          </a:solidFill>
                          <a:latin typeface="Arial"/>
                          <a:ea typeface="Arial"/>
                          <a:cs typeface="Arial"/>
                        </a:rPr>
                        <a:t>Recall</a:t>
                      </a:r>
                    </a:p>
                    <a:p>
                      <a:r>
                        <a:rPr sz="1725" b="1">
                          <a:solidFill>
                            <a:srgbClr val="FFFFFF"/>
                          </a:solidFill>
                          <a:latin typeface="Arial"/>
                          <a:ea typeface="Arial"/>
                          <a:cs typeface="Arial"/>
                        </a:rPr>
                        <a:t>@20%</a:t>
                      </a:r>
                    </a:p>
                  </a:txBody>
                  <a:tcPr marL="114300" marR="114300" marT="85725" marB="85725" anchor="ctr">
                    <a:lnR w="6668">
                      <a:solidFill>
                        <a:srgbClr val="CAD5DA"/>
                      </a:solidFill>
                      <a:prstDash val="solid"/>
                    </a:lnR>
                    <a:lnT w="6668">
                      <a:solidFill>
                        <a:srgbClr val="CAD5DA"/>
                      </a:solidFill>
                      <a:prstDash val="solid"/>
                    </a:lnT>
                    <a:lnB w="6668">
                      <a:solidFill>
                        <a:srgbClr val="CAD5DA"/>
                      </a:solidFill>
                      <a:prstDash val="solid"/>
                    </a:lnB>
                    <a:solidFill>
                      <a:srgbClr val="102F45"/>
                    </a:solidFill>
                  </a:tcPr>
                </a:tc>
              </a:tr>
              <a:tr h="438150">
                <a:tc>
                  <a:txBody>
                    <a:bodyPr/>
                    <a:lstStyle/>
                    <a:p>
                      <a:r>
                        <a:rPr sz="1725">
                          <a:solidFill>
                            <a:srgbClr val="152F40"/>
                          </a:solidFill>
                          <a:latin typeface="Arial"/>
                          <a:ea typeface="Arial"/>
                          <a:cs typeface="Arial"/>
                        </a:rPr>
                        <a:t>Prior baseline</a:t>
                      </a:r>
                    </a:p>
                  </a:txBody>
                  <a:tcPr marL="114300" marR="114300" marT="85725" marB="85725" anchor="ctr">
                    <a:lnL w="6668">
                      <a:solidFill>
                        <a:srgbClr val="CAD5DA"/>
                      </a:solidFill>
                      <a:prstDash val="solid"/>
                    </a:lnL>
                    <a:lnR w="6668">
                      <a:solidFill>
                        <a:srgbClr val="CAD5DA"/>
                      </a:solidFill>
                      <a:prstDash val="solid"/>
                    </a:lnR>
                    <a:lnB w="6668">
                      <a:solidFill>
                        <a:srgbClr val="CAD5DA"/>
                      </a:solidFill>
                      <a:prstDash val="solid"/>
                    </a:lnB>
                    <a:solidFill>
                      <a:srgbClr val="FFFFFF"/>
                    </a:solidFill>
                  </a:tcPr>
                </a:tc>
                <a:tc>
                  <a:txBody>
                    <a:bodyPr/>
                    <a:lstStyle/>
                    <a:p>
                      <a:r>
                        <a:rPr sz="1725">
                          <a:solidFill>
                            <a:srgbClr val="152F40"/>
                          </a:solidFill>
                          <a:latin typeface="Arial"/>
                          <a:ea typeface="Arial"/>
                          <a:cs typeface="Arial"/>
                        </a:rPr>
                        <a:t>0.692</a:t>
                      </a:r>
                    </a:p>
                  </a:txBody>
                  <a:tcPr marL="114300" marR="114300" marT="85725" marB="85725" anchor="ctr">
                    <a:lnR w="6668">
                      <a:solidFill>
                        <a:srgbClr val="CAD5DA"/>
                      </a:solidFill>
                      <a:prstDash val="solid"/>
                    </a:lnR>
                    <a:lnB w="6668">
                      <a:solidFill>
                        <a:srgbClr val="CAD5DA"/>
                      </a:solidFill>
                      <a:prstDash val="solid"/>
                    </a:lnB>
                    <a:solidFill>
                      <a:srgbClr val="FFFFFF"/>
                    </a:solidFill>
                  </a:tcPr>
                </a:tc>
                <a:tc>
                  <a:txBody>
                    <a:bodyPr/>
                    <a:lstStyle/>
                    <a:p>
                      <a:r>
                        <a:rPr sz="1725">
                          <a:solidFill>
                            <a:srgbClr val="152F40"/>
                          </a:solidFill>
                          <a:latin typeface="Arial"/>
                          <a:ea typeface="Arial"/>
                          <a:cs typeface="Arial"/>
                        </a:rPr>
                        <a:t>0.385</a:t>
                      </a:r>
                    </a:p>
                  </a:txBody>
                  <a:tcPr marL="114300" marR="114300" marT="85725" marB="85725" anchor="ctr">
                    <a:lnR w="6668">
                      <a:solidFill>
                        <a:srgbClr val="CAD5DA"/>
                      </a:solidFill>
                      <a:prstDash val="solid"/>
                    </a:lnR>
                    <a:lnB w="6668">
                      <a:solidFill>
                        <a:srgbClr val="CAD5DA"/>
                      </a:solidFill>
                      <a:prstDash val="solid"/>
                    </a:lnB>
                    <a:solidFill>
                      <a:srgbClr val="FFFFFF"/>
                    </a:solidFill>
                  </a:tcPr>
                </a:tc>
                <a:tc>
                  <a:txBody>
                    <a:bodyPr/>
                    <a:lstStyle/>
                    <a:p>
                      <a:r>
                        <a:rPr sz="1725">
                          <a:solidFill>
                            <a:srgbClr val="152F40"/>
                          </a:solidFill>
                          <a:latin typeface="Arial"/>
                          <a:ea typeface="Arial"/>
                          <a:cs typeface="Arial"/>
                        </a:rPr>
                        <a:t>0.500</a:t>
                      </a:r>
                    </a:p>
                  </a:txBody>
                  <a:tcPr marL="114300" marR="114300" marT="85725" marB="85725" anchor="ctr">
                    <a:lnR w="6668">
                      <a:solidFill>
                        <a:srgbClr val="CAD5DA"/>
                      </a:solidFill>
                      <a:prstDash val="solid"/>
                    </a:lnR>
                    <a:lnB w="6668">
                      <a:solidFill>
                        <a:srgbClr val="CAD5DA"/>
                      </a:solidFill>
                      <a:prstDash val="solid"/>
                    </a:lnB>
                    <a:solidFill>
                      <a:srgbClr val="FFFFFF"/>
                    </a:solidFill>
                  </a:tcPr>
                </a:tc>
                <a:tc>
                  <a:txBody>
                    <a:bodyPr/>
                    <a:lstStyle/>
                    <a:p>
                      <a:r>
                        <a:rPr sz="1725">
                          <a:solidFill>
                            <a:srgbClr val="152F40"/>
                          </a:solidFill>
                          <a:latin typeface="Arial"/>
                          <a:ea typeface="Arial"/>
                          <a:cs typeface="Arial"/>
                        </a:rPr>
                        <a:t>37.6%</a:t>
                      </a:r>
                    </a:p>
                  </a:txBody>
                  <a:tcPr marL="114300" marR="114300" marT="85725" marB="85725" anchor="ctr">
                    <a:lnR w="6668">
                      <a:solidFill>
                        <a:srgbClr val="CAD5DA"/>
                      </a:solidFill>
                      <a:prstDash val="solid"/>
                    </a:lnR>
                    <a:lnB w="6668">
                      <a:solidFill>
                        <a:srgbClr val="CAD5DA"/>
                      </a:solidFill>
                      <a:prstDash val="solid"/>
                    </a:lnB>
                    <a:solidFill>
                      <a:srgbClr val="FFFFFF"/>
                    </a:solidFill>
                  </a:tcPr>
                </a:tc>
                <a:tc>
                  <a:txBody>
                    <a:bodyPr/>
                    <a:lstStyle/>
                    <a:p>
                      <a:r>
                        <a:rPr sz="1725">
                          <a:solidFill>
                            <a:srgbClr val="152F40"/>
                          </a:solidFill>
                          <a:latin typeface="Arial"/>
                          <a:ea typeface="Arial"/>
                          <a:cs typeface="Arial"/>
                        </a:rPr>
                        <a:t>0.98×</a:t>
                      </a:r>
                    </a:p>
                  </a:txBody>
                  <a:tcPr marL="114300" marR="114300" marT="85725" marB="85725" anchor="ctr">
                    <a:lnR w="6668">
                      <a:solidFill>
                        <a:srgbClr val="CAD5DA"/>
                      </a:solidFill>
                      <a:prstDash val="solid"/>
                    </a:lnR>
                    <a:lnB w="6668">
                      <a:solidFill>
                        <a:srgbClr val="CAD5DA"/>
                      </a:solidFill>
                      <a:prstDash val="solid"/>
                    </a:lnB>
                    <a:solidFill>
                      <a:srgbClr val="FFFFFF"/>
                    </a:solidFill>
                  </a:tcPr>
                </a:tc>
                <a:tc>
                  <a:txBody>
                    <a:bodyPr/>
                    <a:lstStyle/>
                    <a:p>
                      <a:r>
                        <a:rPr sz="1725">
                          <a:solidFill>
                            <a:srgbClr val="152F40"/>
                          </a:solidFill>
                          <a:latin typeface="Arial"/>
                          <a:ea typeface="Arial"/>
                          <a:cs typeface="Arial"/>
                        </a:rPr>
                        <a:t>19.6%</a:t>
                      </a:r>
                    </a:p>
                  </a:txBody>
                  <a:tcPr marL="114300" marR="114300" marT="85725" marB="85725" anchor="ctr">
                    <a:lnR w="6668">
                      <a:solidFill>
                        <a:srgbClr val="CAD5DA"/>
                      </a:solidFill>
                      <a:prstDash val="solid"/>
                    </a:lnR>
                    <a:lnB w="6668">
                      <a:solidFill>
                        <a:srgbClr val="CAD5DA"/>
                      </a:solidFill>
                      <a:prstDash val="solid"/>
                    </a:lnB>
                    <a:solidFill>
                      <a:srgbClr val="FFFFFF"/>
                    </a:solidFill>
                  </a:tcPr>
                </a:tc>
              </a:tr>
              <a:tr h="438150">
                <a:tc>
                  <a:txBody>
                    <a:bodyPr/>
                    <a:lstStyle/>
                    <a:p>
                      <a:r>
                        <a:rPr sz="1725">
                          <a:solidFill>
                            <a:srgbClr val="152F40"/>
                          </a:solidFill>
                          <a:latin typeface="Arial"/>
                          <a:ea typeface="Arial"/>
                          <a:cs typeface="Arial"/>
                        </a:rPr>
                        <a:t>Logistic Regression</a:t>
                      </a:r>
                    </a:p>
                  </a:txBody>
                  <a:tcPr marL="114300" marR="114300" marT="85725" marB="85725" anchor="ctr">
                    <a:lnL w="6668">
                      <a:solidFill>
                        <a:srgbClr val="CAD5DA"/>
                      </a:solidFill>
                      <a:prstDash val="solid"/>
                    </a:lnL>
                    <a:lnR w="6668">
                      <a:solidFill>
                        <a:srgbClr val="CAD5DA"/>
                      </a:solidFill>
                      <a:prstDash val="solid"/>
                    </a:lnR>
                    <a:lnB w="6668">
                      <a:solidFill>
                        <a:srgbClr val="CAD5DA"/>
                      </a:solidFill>
                      <a:prstDash val="solid"/>
                    </a:lnB>
                    <a:solidFill>
                      <a:srgbClr val="FFFFFF"/>
                    </a:solidFill>
                  </a:tcPr>
                </a:tc>
                <a:tc>
                  <a:txBody>
                    <a:bodyPr/>
                    <a:lstStyle/>
                    <a:p>
                      <a:r>
                        <a:rPr sz="1725">
                          <a:solidFill>
                            <a:srgbClr val="152F40"/>
                          </a:solidFill>
                          <a:latin typeface="Arial"/>
                          <a:ea typeface="Arial"/>
                          <a:cs typeface="Arial"/>
                        </a:rPr>
                        <a:t>0.522</a:t>
                      </a:r>
                    </a:p>
                  </a:txBody>
                  <a:tcPr marL="114300" marR="114300" marT="85725" marB="85725" anchor="ctr">
                    <a:lnR w="6668">
                      <a:solidFill>
                        <a:srgbClr val="CAD5DA"/>
                      </a:solidFill>
                      <a:prstDash val="solid"/>
                    </a:lnR>
                    <a:lnB w="6668">
                      <a:solidFill>
                        <a:srgbClr val="CAD5DA"/>
                      </a:solidFill>
                      <a:prstDash val="solid"/>
                    </a:lnB>
                    <a:solidFill>
                      <a:srgbClr val="FFFFFF"/>
                    </a:solidFill>
                  </a:tcPr>
                </a:tc>
                <a:tc>
                  <a:txBody>
                    <a:bodyPr/>
                    <a:lstStyle/>
                    <a:p>
                      <a:r>
                        <a:rPr sz="1725">
                          <a:solidFill>
                            <a:srgbClr val="152F40"/>
                          </a:solidFill>
                          <a:latin typeface="Arial"/>
                          <a:ea typeface="Arial"/>
                          <a:cs typeface="Arial"/>
                        </a:rPr>
                        <a:t>0.523</a:t>
                      </a:r>
                    </a:p>
                  </a:txBody>
                  <a:tcPr marL="114300" marR="114300" marT="85725" marB="85725" anchor="ctr">
                    <a:lnR w="6668">
                      <a:solidFill>
                        <a:srgbClr val="CAD5DA"/>
                      </a:solidFill>
                      <a:prstDash val="solid"/>
                    </a:lnR>
                    <a:lnB w="6668">
                      <a:solidFill>
                        <a:srgbClr val="CAD5DA"/>
                      </a:solidFill>
                      <a:prstDash val="solid"/>
                    </a:lnB>
                    <a:solidFill>
                      <a:srgbClr val="FFFFFF"/>
                    </a:solidFill>
                  </a:tcPr>
                </a:tc>
                <a:tc>
                  <a:txBody>
                    <a:bodyPr/>
                    <a:lstStyle/>
                    <a:p>
                      <a:r>
                        <a:rPr sz="1725">
                          <a:solidFill>
                            <a:srgbClr val="152F40"/>
                          </a:solidFill>
                          <a:latin typeface="Arial"/>
                          <a:ea typeface="Arial"/>
                          <a:cs typeface="Arial"/>
                        </a:rPr>
                        <a:t>0.622</a:t>
                      </a:r>
                    </a:p>
                  </a:txBody>
                  <a:tcPr marL="114300" marR="114300" marT="85725" marB="85725" anchor="ctr">
                    <a:lnR w="6668">
                      <a:solidFill>
                        <a:srgbClr val="CAD5DA"/>
                      </a:solidFill>
                      <a:prstDash val="solid"/>
                    </a:lnR>
                    <a:lnB w="6668">
                      <a:solidFill>
                        <a:srgbClr val="CAD5DA"/>
                      </a:solidFill>
                      <a:prstDash val="solid"/>
                    </a:lnB>
                    <a:solidFill>
                      <a:srgbClr val="FFFFFF"/>
                    </a:solidFill>
                  </a:tcPr>
                </a:tc>
                <a:tc>
                  <a:txBody>
                    <a:bodyPr/>
                    <a:lstStyle/>
                    <a:p>
                      <a:r>
                        <a:rPr sz="1725">
                          <a:solidFill>
                            <a:srgbClr val="152F40"/>
                          </a:solidFill>
                          <a:latin typeface="Arial"/>
                          <a:ea typeface="Arial"/>
                          <a:cs typeface="Arial"/>
                        </a:rPr>
                        <a:t>60.0%</a:t>
                      </a:r>
                    </a:p>
                  </a:txBody>
                  <a:tcPr marL="114300" marR="114300" marT="85725" marB="85725" anchor="ctr">
                    <a:lnR w="6668">
                      <a:solidFill>
                        <a:srgbClr val="CAD5DA"/>
                      </a:solidFill>
                      <a:prstDash val="solid"/>
                    </a:lnR>
                    <a:lnB w="6668">
                      <a:solidFill>
                        <a:srgbClr val="CAD5DA"/>
                      </a:solidFill>
                      <a:prstDash val="solid"/>
                    </a:lnB>
                    <a:solidFill>
                      <a:srgbClr val="FFFFFF"/>
                    </a:solidFill>
                  </a:tcPr>
                </a:tc>
                <a:tc>
                  <a:txBody>
                    <a:bodyPr/>
                    <a:lstStyle/>
                    <a:p>
                      <a:r>
                        <a:rPr sz="1725">
                          <a:solidFill>
                            <a:srgbClr val="152F40"/>
                          </a:solidFill>
                          <a:latin typeface="Arial"/>
                          <a:ea typeface="Arial"/>
                          <a:cs typeface="Arial"/>
                        </a:rPr>
                        <a:t>1.56×</a:t>
                      </a:r>
                    </a:p>
                  </a:txBody>
                  <a:tcPr marL="114300" marR="114300" marT="85725" marB="85725" anchor="ctr">
                    <a:lnR w="6668">
                      <a:solidFill>
                        <a:srgbClr val="CAD5DA"/>
                      </a:solidFill>
                      <a:prstDash val="solid"/>
                    </a:lnR>
                    <a:lnB w="6668">
                      <a:solidFill>
                        <a:srgbClr val="CAD5DA"/>
                      </a:solidFill>
                      <a:prstDash val="solid"/>
                    </a:lnB>
                    <a:solidFill>
                      <a:srgbClr val="FFFFFF"/>
                    </a:solidFill>
                  </a:tcPr>
                </a:tc>
                <a:tc>
                  <a:txBody>
                    <a:bodyPr/>
                    <a:lstStyle/>
                    <a:p>
                      <a:r>
                        <a:rPr sz="1725">
                          <a:solidFill>
                            <a:srgbClr val="152F40"/>
                          </a:solidFill>
                          <a:latin typeface="Arial"/>
                          <a:ea typeface="Arial"/>
                          <a:cs typeface="Arial"/>
                        </a:rPr>
                        <a:t>31.2%</a:t>
                      </a:r>
                    </a:p>
                  </a:txBody>
                  <a:tcPr marL="114300" marR="114300" marT="85725" marB="85725" anchor="ctr">
                    <a:lnR w="6668">
                      <a:solidFill>
                        <a:srgbClr val="CAD5DA"/>
                      </a:solidFill>
                      <a:prstDash val="solid"/>
                    </a:lnR>
                    <a:lnB w="6668">
                      <a:solidFill>
                        <a:srgbClr val="CAD5DA"/>
                      </a:solidFill>
                      <a:prstDash val="solid"/>
                    </a:lnB>
                    <a:solidFill>
                      <a:srgbClr val="FFFFFF"/>
                    </a:solidFill>
                  </a:tcPr>
                </a:tc>
              </a:tr>
              <a:tr h="438150">
                <a:tc>
                  <a:txBody>
                    <a:bodyPr/>
                    <a:lstStyle/>
                    <a:p>
                      <a:r>
                        <a:rPr sz="1725" b="1">
                          <a:solidFill>
                            <a:srgbClr val="102F45"/>
                          </a:solidFill>
                          <a:latin typeface="Arial"/>
                          <a:ea typeface="Arial"/>
                          <a:cs typeface="Arial"/>
                        </a:rPr>
                        <a:t>Random Forest</a:t>
                      </a:r>
                    </a:p>
                  </a:txBody>
                  <a:tcPr marL="114300" marR="114300" marT="85725" marB="85725" anchor="ctr">
                    <a:lnL w="6668">
                      <a:solidFill>
                        <a:srgbClr val="CAD5DA"/>
                      </a:solidFill>
                      <a:prstDash val="solid"/>
                    </a:lnL>
                    <a:lnR w="6668">
                      <a:solidFill>
                        <a:srgbClr val="CAD5DA"/>
                      </a:solidFill>
                      <a:prstDash val="solid"/>
                    </a:lnR>
                    <a:lnB w="6668">
                      <a:solidFill>
                        <a:srgbClr val="CAD5DA"/>
                      </a:solidFill>
                      <a:prstDash val="solid"/>
                    </a:lnB>
                    <a:solidFill>
                      <a:srgbClr val="E7F3F2"/>
                    </a:solidFill>
                  </a:tcPr>
                </a:tc>
                <a:tc>
                  <a:txBody>
                    <a:bodyPr/>
                    <a:lstStyle/>
                    <a:p>
                      <a:r>
                        <a:rPr sz="1725" b="1">
                          <a:solidFill>
                            <a:srgbClr val="102F45"/>
                          </a:solidFill>
                          <a:latin typeface="Arial"/>
                          <a:ea typeface="Arial"/>
                          <a:cs typeface="Arial"/>
                        </a:rPr>
                        <a:t>0.474</a:t>
                      </a:r>
                    </a:p>
                  </a:txBody>
                  <a:tcPr marL="114300" marR="114300" marT="85725" marB="85725" anchor="ctr">
                    <a:lnR w="6668">
                      <a:solidFill>
                        <a:srgbClr val="CAD5DA"/>
                      </a:solidFill>
                      <a:prstDash val="solid"/>
                    </a:lnR>
                    <a:lnB w="6668">
                      <a:solidFill>
                        <a:srgbClr val="CAD5DA"/>
                      </a:solidFill>
                      <a:prstDash val="solid"/>
                    </a:lnB>
                    <a:solidFill>
                      <a:srgbClr val="E7F3F2"/>
                    </a:solidFill>
                  </a:tcPr>
                </a:tc>
                <a:tc>
                  <a:txBody>
                    <a:bodyPr/>
                    <a:lstStyle/>
                    <a:p>
                      <a:r>
                        <a:rPr sz="1725" b="1">
                          <a:solidFill>
                            <a:srgbClr val="102F45"/>
                          </a:solidFill>
                          <a:latin typeface="Arial"/>
                          <a:ea typeface="Arial"/>
                          <a:cs typeface="Arial"/>
                        </a:rPr>
                        <a:t>0.474</a:t>
                      </a:r>
                    </a:p>
                  </a:txBody>
                  <a:tcPr marL="114300" marR="114300" marT="85725" marB="85725" anchor="ctr">
                    <a:lnR w="6668">
                      <a:solidFill>
                        <a:srgbClr val="CAD5DA"/>
                      </a:solidFill>
                      <a:prstDash val="solid"/>
                    </a:lnR>
                    <a:lnB w="6668">
                      <a:solidFill>
                        <a:srgbClr val="CAD5DA"/>
                      </a:solidFill>
                      <a:prstDash val="solid"/>
                    </a:lnB>
                    <a:solidFill>
                      <a:srgbClr val="E7F3F2"/>
                    </a:solidFill>
                  </a:tcPr>
                </a:tc>
                <a:tc>
                  <a:txBody>
                    <a:bodyPr/>
                    <a:lstStyle/>
                    <a:p>
                      <a:r>
                        <a:rPr sz="1725" b="1">
                          <a:solidFill>
                            <a:srgbClr val="102F45"/>
                          </a:solidFill>
                          <a:latin typeface="Arial"/>
                          <a:ea typeface="Arial"/>
                          <a:cs typeface="Arial"/>
                        </a:rPr>
                        <a:t>0.619</a:t>
                      </a:r>
                    </a:p>
                  </a:txBody>
                  <a:tcPr marL="114300" marR="114300" marT="85725" marB="85725" anchor="ctr">
                    <a:lnR w="6668">
                      <a:solidFill>
                        <a:srgbClr val="CAD5DA"/>
                      </a:solidFill>
                      <a:prstDash val="solid"/>
                    </a:lnR>
                    <a:lnB w="6668">
                      <a:solidFill>
                        <a:srgbClr val="CAD5DA"/>
                      </a:solidFill>
                      <a:prstDash val="solid"/>
                    </a:lnB>
                    <a:solidFill>
                      <a:srgbClr val="E7F3F2"/>
                    </a:solidFill>
                  </a:tcPr>
                </a:tc>
                <a:tc>
                  <a:txBody>
                    <a:bodyPr/>
                    <a:lstStyle/>
                    <a:p>
                      <a:r>
                        <a:rPr sz="1725" b="1">
                          <a:solidFill>
                            <a:srgbClr val="102F45"/>
                          </a:solidFill>
                          <a:latin typeface="Arial"/>
                          <a:ea typeface="Arial"/>
                          <a:cs typeface="Arial"/>
                        </a:rPr>
                        <a:t>51.1%</a:t>
                      </a:r>
                    </a:p>
                  </a:txBody>
                  <a:tcPr marL="114300" marR="114300" marT="85725" marB="85725" anchor="ctr">
                    <a:lnR w="6668">
                      <a:solidFill>
                        <a:srgbClr val="CAD5DA"/>
                      </a:solidFill>
                      <a:prstDash val="solid"/>
                    </a:lnR>
                    <a:lnB w="6668">
                      <a:solidFill>
                        <a:srgbClr val="CAD5DA"/>
                      </a:solidFill>
                      <a:prstDash val="solid"/>
                    </a:lnB>
                    <a:solidFill>
                      <a:srgbClr val="E7F3F2"/>
                    </a:solidFill>
                  </a:tcPr>
                </a:tc>
                <a:tc>
                  <a:txBody>
                    <a:bodyPr/>
                    <a:lstStyle/>
                    <a:p>
                      <a:r>
                        <a:rPr sz="1725" b="1">
                          <a:solidFill>
                            <a:srgbClr val="102F45"/>
                          </a:solidFill>
                          <a:latin typeface="Arial"/>
                          <a:ea typeface="Arial"/>
                          <a:cs typeface="Arial"/>
                        </a:rPr>
                        <a:t>1.33×</a:t>
                      </a:r>
                    </a:p>
                  </a:txBody>
                  <a:tcPr marL="114300" marR="114300" marT="85725" marB="85725" anchor="ctr">
                    <a:lnR w="6668">
                      <a:solidFill>
                        <a:srgbClr val="CAD5DA"/>
                      </a:solidFill>
                      <a:prstDash val="solid"/>
                    </a:lnR>
                    <a:lnB w="6668">
                      <a:solidFill>
                        <a:srgbClr val="CAD5DA"/>
                      </a:solidFill>
                      <a:prstDash val="solid"/>
                    </a:lnB>
                    <a:solidFill>
                      <a:srgbClr val="E7F3F2"/>
                    </a:solidFill>
                  </a:tcPr>
                </a:tc>
                <a:tc>
                  <a:txBody>
                    <a:bodyPr/>
                    <a:lstStyle/>
                    <a:p>
                      <a:r>
                        <a:rPr sz="1725" b="1">
                          <a:solidFill>
                            <a:srgbClr val="102F45"/>
                          </a:solidFill>
                          <a:latin typeface="Arial"/>
                          <a:ea typeface="Arial"/>
                          <a:cs typeface="Arial"/>
                        </a:rPr>
                        <a:t>26.6%</a:t>
                      </a:r>
                    </a:p>
                  </a:txBody>
                  <a:tcPr marL="114300" marR="114300" marT="85725" marB="85725" anchor="ctr">
                    <a:lnR w="6668">
                      <a:solidFill>
                        <a:srgbClr val="CAD5DA"/>
                      </a:solidFill>
                      <a:prstDash val="solid"/>
                    </a:lnR>
                    <a:lnB w="6668">
                      <a:solidFill>
                        <a:srgbClr val="CAD5DA"/>
                      </a:solidFill>
                      <a:prstDash val="solid"/>
                    </a:lnB>
                    <a:solidFill>
                      <a:srgbClr val="E7F3F2"/>
                    </a:solidFill>
                  </a:tcPr>
                </a:tc>
              </a:tr>
            </a:tbl>
          </a:graphicData>
        </a:graphic>
      </p:graphicFrame>
      <p:graphicFrame>
        <p:nvGraphicFramePr>
          <p:cNvPr id="5" name="Chart">
            <a:extLst xmlns:a="http://schemas.openxmlformats.org/drawingml/2006/main">
              <a:ext uri="{FF2B5EF4-FFF2-40B4-BE49-F238E27FC236}">
                <a16:creationId xmlns:a16="http://schemas.microsoft.com/office/drawing/2014/main" id="{C6F22A98-B68F-4EF4-855F-AC502D663616}"/>
              </a:ext>
            </a:extLst>
          </p:cNvPr>
          <p:cNvGraphicFramePr/>
          <p:nvPr/>
        </p:nvGraphicFramePr>
        <p:xfrm>
          <a:off xmlns:a="http://schemas.openxmlformats.org/drawingml/2006/main" x="609600" y="3810000"/>
          <a:ext xmlns:a="http://schemas.openxmlformats.org/drawingml/2006/main" cx="6191250" cy="2343150"/>
        </p:xfrm>
        <a:graphic xmlns:a="http://schemas.openxmlformats.org/drawingml/2006/main">
          <a:graphicData uri="http://schemas.openxmlformats.org/drawingml/2006/chart">
            <c:chart xmlns:r="http://schemas.openxmlformats.org/officeDocument/2006/relationships" xmlns:c="http://schemas.openxmlformats.org/drawingml/2006/chart" r:id="R6ee81791153546d9"/>
          </a:graphicData>
        </a:graphic>
      </p:graphicFrame>
      <p:sp>
        <p:nvSpPr>
          <p:cNvPr id="6" name="">
            <a:extLst xmlns:a="http://schemas.openxmlformats.org/drawingml/2006/main">
              <a:ext uri="{FF2B5EF4-FFF2-40B4-BE49-F238E27FC236}">
                <a16:creationId xmlns:a16="http://schemas.microsoft.com/office/drawing/2014/main" id="{9A5DA54F-F987-48C2-B44D-938F0D5E934A}"/>
              </a:ext>
            </a:extLst>
          </p:cNvPr>
          <p:cNvSpPr>
            <a:spLocks xmlns:a="http://schemas.openxmlformats.org/drawingml/2006/main" noGrp="1"/>
          </p:cNvSpPr>
          <p:nvPr/>
        </p:nvSpPr>
        <p:spPr>
          <a:xfrm xmlns:a="http://schemas.openxmlformats.org/drawingml/2006/main">
            <a:off x="7219950" y="3857625"/>
            <a:ext cx="43624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087F8C"/>
                </a:solidFill>
                <a:latin typeface="Arial"/>
                <a:ea typeface="Arial"/>
                <a:cs typeface="Arial"/>
              </a:defRPr>
            </a:defPPr>
            <a:lvl1pPr>
              <a:defRPr sz="1950" b="1">
                <a:solidFill>
                  <a:srgbClr val="087F8C"/>
                </a:solidFill>
                <a:latin typeface="Arial"/>
                <a:ea typeface="Arial"/>
                <a:cs typeface="Arial"/>
              </a:defRPr>
            </a:lvl1pPr>
            <a:lvl2pPr>
              <a:defRPr sz="1950" b="1">
                <a:solidFill>
                  <a:srgbClr val="087F8C"/>
                </a:solidFill>
                <a:latin typeface="Arial"/>
                <a:ea typeface="Arial"/>
                <a:cs typeface="Arial"/>
              </a:defRPr>
            </a:lvl2pPr>
            <a:lvl3pPr>
              <a:defRPr sz="1950" b="1">
                <a:solidFill>
                  <a:srgbClr val="087F8C"/>
                </a:solidFill>
                <a:latin typeface="Arial"/>
                <a:ea typeface="Arial"/>
                <a:cs typeface="Arial"/>
              </a:defRPr>
            </a:lvl3pPr>
            <a:lvl4pPr>
              <a:defRPr sz="1950" b="1">
                <a:solidFill>
                  <a:srgbClr val="087F8C"/>
                </a:solidFill>
                <a:latin typeface="Arial"/>
                <a:ea typeface="Arial"/>
                <a:cs typeface="Arial"/>
              </a:defRPr>
            </a:lvl4pPr>
            <a:lvl5pPr>
              <a:defRPr sz="1950" b="1">
                <a:solidFill>
                  <a:srgbClr val="087F8C"/>
                </a:solidFill>
                <a:latin typeface="Arial"/>
                <a:ea typeface="Arial"/>
                <a:cs typeface="Arial"/>
              </a:defRPr>
            </a:lvl5pPr>
            <a:lvl6pPr>
              <a:defRPr sz="1950" b="1">
                <a:solidFill>
                  <a:srgbClr val="087F8C"/>
                </a:solidFill>
                <a:latin typeface="Arial"/>
                <a:ea typeface="Arial"/>
                <a:cs typeface="Arial"/>
              </a:defRPr>
            </a:lvl6pPr>
            <a:lvl7pPr>
              <a:defRPr sz="1950" b="1">
                <a:solidFill>
                  <a:srgbClr val="087F8C"/>
                </a:solidFill>
                <a:latin typeface="Arial"/>
                <a:ea typeface="Arial"/>
                <a:cs typeface="Arial"/>
              </a:defRPr>
            </a:lvl7pPr>
            <a:lvl8pPr>
              <a:defRPr sz="1950" b="1">
                <a:solidFill>
                  <a:srgbClr val="087F8C"/>
                </a:solidFill>
                <a:latin typeface="Arial"/>
                <a:ea typeface="Arial"/>
                <a:cs typeface="Arial"/>
              </a:defRPr>
            </a:lvl8pPr>
            <a:lvl9pPr>
              <a:defRPr sz="1950" b="1">
                <a:solidFill>
                  <a:srgbClr val="087F8C"/>
                </a:solidFill>
                <a:latin typeface="Arial"/>
                <a:ea typeface="Arial"/>
                <a:cs typeface="Arial"/>
              </a:defRPr>
            </a:lvl9pPr>
          </a:lstStyle>
          <a:p xmlns:a="http://schemas.openxmlformats.org/drawingml/2006/main">
            <a:pPr>
              <a:defRPr sz="1950" b="1">
                <a:solidFill>
                  <a:srgbClr val="087F8C"/>
                </a:solidFill>
                <a:latin typeface="Arial"/>
                <a:ea typeface="Arial"/>
                <a:cs typeface="Arial"/>
              </a:defRPr>
            </a:pPr>
            <a:r>
              <a:rPr sz="1950" b="1">
                <a:solidFill>
                  <a:srgbClr val="087F8C"/>
                </a:solidFill>
                <a:latin typeface="Arial"/>
                <a:ea typeface="Arial"/>
                <a:cs typeface="Arial"/>
              </a:rPr>
              <a:t>Random Forest</a:t>
            </a:r>
          </a:p>
          <a:p xmlns:a="http://schemas.openxmlformats.org/drawingml/2006/main">
            <a:pPr>
              <a:defRPr sz="1950" b="1">
                <a:solidFill>
                  <a:srgbClr val="087F8C"/>
                </a:solidFill>
                <a:latin typeface="Arial"/>
                <a:ea typeface="Arial"/>
                <a:cs typeface="Arial"/>
              </a:defRPr>
            </a:pPr>
            <a:r>
              <a:rPr sz="1950" b="1">
                <a:solidFill>
                  <a:srgbClr val="087F8C"/>
                </a:solidFill>
                <a:latin typeface="Arial"/>
                <a:ea typeface="Arial"/>
                <a:cs typeface="Arial"/>
              </a:rPr>
              <a:t>Validation-selected champion</a:t>
            </a:r>
          </a:p>
        </p:txBody>
      </p:sp>
      <p:sp>
        <p:nvSpPr>
          <p:cNvPr id="7" name="">
            <a:extLst xmlns:a="http://schemas.openxmlformats.org/drawingml/2006/main">
              <a:ext uri="{FF2B5EF4-FFF2-40B4-BE49-F238E27FC236}">
                <a16:creationId xmlns:a16="http://schemas.microsoft.com/office/drawing/2014/main" id="{C8F57562-2E86-4EC6-B5F3-AD8057D47FF8}"/>
              </a:ext>
            </a:extLst>
          </p:cNvPr>
          <p:cNvSpPr>
            <a:spLocks xmlns:a="http://schemas.openxmlformats.org/drawingml/2006/main" noGrp="1"/>
          </p:cNvSpPr>
          <p:nvPr/>
        </p:nvSpPr>
        <p:spPr>
          <a:xfrm xmlns:a="http://schemas.openxmlformats.org/drawingml/2006/main">
            <a:off x="7219950" y="4752975"/>
            <a:ext cx="43624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52F40"/>
                </a:solidFill>
                <a:latin typeface="Arial"/>
                <a:ea typeface="Arial"/>
                <a:cs typeface="Arial"/>
              </a:defRPr>
            </a:defPPr>
            <a:lvl1pPr>
              <a:defRPr sz="2175" b="1">
                <a:solidFill>
                  <a:srgbClr val="152F40"/>
                </a:solidFill>
                <a:latin typeface="Arial"/>
                <a:ea typeface="Arial"/>
                <a:cs typeface="Arial"/>
              </a:defRPr>
            </a:lvl1pPr>
            <a:lvl2pPr>
              <a:defRPr sz="2175" b="1">
                <a:solidFill>
                  <a:srgbClr val="152F40"/>
                </a:solidFill>
                <a:latin typeface="Arial"/>
                <a:ea typeface="Arial"/>
                <a:cs typeface="Arial"/>
              </a:defRPr>
            </a:lvl2pPr>
            <a:lvl3pPr>
              <a:defRPr sz="2175" b="1">
                <a:solidFill>
                  <a:srgbClr val="152F40"/>
                </a:solidFill>
                <a:latin typeface="Arial"/>
                <a:ea typeface="Arial"/>
                <a:cs typeface="Arial"/>
              </a:defRPr>
            </a:lvl3pPr>
            <a:lvl4pPr>
              <a:defRPr sz="2175" b="1">
                <a:solidFill>
                  <a:srgbClr val="152F40"/>
                </a:solidFill>
                <a:latin typeface="Arial"/>
                <a:ea typeface="Arial"/>
                <a:cs typeface="Arial"/>
              </a:defRPr>
            </a:lvl4pPr>
            <a:lvl5pPr>
              <a:defRPr sz="2175" b="1">
                <a:solidFill>
                  <a:srgbClr val="152F40"/>
                </a:solidFill>
                <a:latin typeface="Arial"/>
                <a:ea typeface="Arial"/>
                <a:cs typeface="Arial"/>
              </a:defRPr>
            </a:lvl5pPr>
            <a:lvl6pPr>
              <a:defRPr sz="2175" b="1">
                <a:solidFill>
                  <a:srgbClr val="152F40"/>
                </a:solidFill>
                <a:latin typeface="Arial"/>
                <a:ea typeface="Arial"/>
                <a:cs typeface="Arial"/>
              </a:defRPr>
            </a:lvl6pPr>
            <a:lvl7pPr>
              <a:defRPr sz="2175" b="1">
                <a:solidFill>
                  <a:srgbClr val="152F40"/>
                </a:solidFill>
                <a:latin typeface="Arial"/>
                <a:ea typeface="Arial"/>
                <a:cs typeface="Arial"/>
              </a:defRPr>
            </a:lvl7pPr>
            <a:lvl8pPr>
              <a:defRPr sz="2175" b="1">
                <a:solidFill>
                  <a:srgbClr val="152F40"/>
                </a:solidFill>
                <a:latin typeface="Arial"/>
                <a:ea typeface="Arial"/>
                <a:cs typeface="Arial"/>
              </a:defRPr>
            </a:lvl8pPr>
            <a:lvl9pPr>
              <a:defRPr sz="2175" b="1">
                <a:solidFill>
                  <a:srgbClr val="152F40"/>
                </a:solidFill>
                <a:latin typeface="Arial"/>
                <a:ea typeface="Arial"/>
                <a:cs typeface="Arial"/>
              </a:defRPr>
            </a:lvl9pPr>
          </a:lstStyle>
          <a:p xmlns:a="http://schemas.openxmlformats.org/drawingml/2006/main">
            <a:pPr>
              <a:defRPr sz="2175" b="1">
                <a:solidFill>
                  <a:srgbClr val="152F40"/>
                </a:solidFill>
                <a:latin typeface="Arial"/>
                <a:ea typeface="Arial"/>
                <a:cs typeface="Arial"/>
              </a:defRPr>
            </a:pPr>
            <a:r>
              <a:rPr sz="2175" b="1">
                <a:solidFill>
                  <a:srgbClr val="152F40"/>
                </a:solidFill>
                <a:latin typeface="Arial"/>
                <a:ea typeface="Arial"/>
                <a:cs typeface="Arial"/>
              </a:rPr>
              <a:t>632 of 2,376 subscriptions</a:t>
            </a:r>
          </a:p>
          <a:p xmlns:a="http://schemas.openxmlformats.org/drawingml/2006/main">
            <a:pPr>
              <a:defRPr sz="2175" b="1">
                <a:solidFill>
                  <a:srgbClr val="152F40"/>
                </a:solidFill>
                <a:latin typeface="Arial"/>
                <a:ea typeface="Arial"/>
                <a:cs typeface="Arial"/>
              </a:defRPr>
            </a:pPr>
            <a:r>
              <a:rPr sz="2175" b="1">
                <a:solidFill>
                  <a:srgbClr val="152F40"/>
                </a:solidFill>
                <a:latin typeface="Arial"/>
                <a:ea typeface="Arial"/>
                <a:cs typeface="Arial"/>
              </a:rPr>
              <a:t>in the top 1,236 records</a:t>
            </a:r>
          </a:p>
        </p:txBody>
      </p:sp>
      <p:sp>
        <p:nvSpPr>
          <p:cNvPr id="8" name="">
            <a:extLst xmlns:a="http://schemas.openxmlformats.org/drawingml/2006/main">
              <a:ext uri="{FF2B5EF4-FFF2-40B4-BE49-F238E27FC236}">
                <a16:creationId xmlns:a16="http://schemas.microsoft.com/office/drawing/2014/main" id="{8C59EA17-5F00-41D9-8A99-A4FCD1744FCE}"/>
              </a:ext>
            </a:extLst>
          </p:cNvPr>
          <p:cNvSpPr>
            <a:spLocks xmlns:a="http://schemas.openxmlformats.org/drawingml/2006/main" noGrp="1"/>
          </p:cNvSpPr>
          <p:nvPr/>
        </p:nvSpPr>
        <p:spPr>
          <a:xfrm xmlns:a="http://schemas.openxmlformats.org/drawingml/2006/main">
            <a:off x="7219950" y="5676900"/>
            <a:ext cx="43624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a:solidFill>
                  <a:srgbClr val="5B6B75"/>
                </a:solidFill>
                <a:latin typeface="Arial"/>
                <a:ea typeface="Arial"/>
                <a:cs typeface="Arial"/>
              </a:defRPr>
            </a:defPPr>
            <a:lvl1pPr>
              <a:defRPr sz="1725">
                <a:solidFill>
                  <a:srgbClr val="5B6B75"/>
                </a:solidFill>
                <a:latin typeface="Arial"/>
                <a:ea typeface="Arial"/>
                <a:cs typeface="Arial"/>
              </a:defRPr>
            </a:lvl1pPr>
            <a:lvl2pPr>
              <a:defRPr sz="1725">
                <a:solidFill>
                  <a:srgbClr val="5B6B75"/>
                </a:solidFill>
                <a:latin typeface="Arial"/>
                <a:ea typeface="Arial"/>
                <a:cs typeface="Arial"/>
              </a:defRPr>
            </a:lvl2pPr>
            <a:lvl3pPr>
              <a:defRPr sz="1725">
                <a:solidFill>
                  <a:srgbClr val="5B6B75"/>
                </a:solidFill>
                <a:latin typeface="Arial"/>
                <a:ea typeface="Arial"/>
                <a:cs typeface="Arial"/>
              </a:defRPr>
            </a:lvl3pPr>
            <a:lvl4pPr>
              <a:defRPr sz="1725">
                <a:solidFill>
                  <a:srgbClr val="5B6B75"/>
                </a:solidFill>
                <a:latin typeface="Arial"/>
                <a:ea typeface="Arial"/>
                <a:cs typeface="Arial"/>
              </a:defRPr>
            </a:lvl4pPr>
            <a:lvl5pPr>
              <a:defRPr sz="1725">
                <a:solidFill>
                  <a:srgbClr val="5B6B75"/>
                </a:solidFill>
                <a:latin typeface="Arial"/>
                <a:ea typeface="Arial"/>
                <a:cs typeface="Arial"/>
              </a:defRPr>
            </a:lvl5pPr>
            <a:lvl6pPr>
              <a:defRPr sz="1725">
                <a:solidFill>
                  <a:srgbClr val="5B6B75"/>
                </a:solidFill>
                <a:latin typeface="Arial"/>
                <a:ea typeface="Arial"/>
                <a:cs typeface="Arial"/>
              </a:defRPr>
            </a:lvl6pPr>
            <a:lvl7pPr>
              <a:defRPr sz="1725">
                <a:solidFill>
                  <a:srgbClr val="5B6B75"/>
                </a:solidFill>
                <a:latin typeface="Arial"/>
                <a:ea typeface="Arial"/>
                <a:cs typeface="Arial"/>
              </a:defRPr>
            </a:lvl7pPr>
            <a:lvl8pPr>
              <a:defRPr sz="1725">
                <a:solidFill>
                  <a:srgbClr val="5B6B75"/>
                </a:solidFill>
                <a:latin typeface="Arial"/>
                <a:ea typeface="Arial"/>
                <a:cs typeface="Arial"/>
              </a:defRPr>
            </a:lvl8pPr>
            <a:lvl9pPr>
              <a:defRPr sz="1725">
                <a:solidFill>
                  <a:srgbClr val="5B6B75"/>
                </a:solidFill>
                <a:latin typeface="Arial"/>
                <a:ea typeface="Arial"/>
                <a:cs typeface="Arial"/>
              </a:defRPr>
            </a:lvl9pPr>
          </a:lstStyle>
          <a:p xmlns:a="http://schemas.openxmlformats.org/drawingml/2006/main">
            <a:pPr>
              <a:defRPr sz="1725">
                <a:solidFill>
                  <a:srgbClr val="5B6B75"/>
                </a:solidFill>
                <a:latin typeface="Arial"/>
                <a:ea typeface="Arial"/>
                <a:cs typeface="Arial"/>
              </a:defRPr>
            </a:pPr>
            <a:r>
              <a:rPr sz="1725">
                <a:solidFill>
                  <a:srgbClr val="5B6B75"/>
                </a:solidFill>
                <a:latin typeface="Arial"/>
                <a:ea typeface="Arial"/>
                <a:cs typeface="Arial"/>
              </a:rPr>
              <a:t>Offline historical capture.</a:t>
            </a:r>
          </a:p>
          <a:p xmlns:a="http://schemas.openxmlformats.org/drawingml/2006/main">
            <a:pPr>
              <a:defRPr sz="1725">
                <a:solidFill>
                  <a:srgbClr val="5B6B75"/>
                </a:solidFill>
                <a:latin typeface="Arial"/>
                <a:ea typeface="Arial"/>
                <a:cs typeface="Arial"/>
              </a:defRPr>
            </a:pPr>
            <a:r>
              <a:rPr sz="1725">
                <a:solidFill>
                  <a:srgbClr val="5B6B75"/>
                </a:solidFill>
                <a:latin typeface="Arial"/>
                <a:ea typeface="Arial"/>
                <a:cs typeface="Arial"/>
              </a:rPr>
              <a:t>No causal sales or revenue claim.</a:t>
            </a:r>
          </a:p>
        </p:txBody>
      </p:sp>
    </p:spTree>
    <p:extLst>
      <p:ext uri="{BB962C8B-B14F-4D97-AF65-F5344CB8AC3E}">
        <p14:creationId xmlns:p14="http://schemas.microsoft.com/office/powerpoint/2010/main" val="105406594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CF08E89-A1D6-4927-8D1A-150B3C1CA8D4}"/>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02F45"/>
                </a:solidFill>
                <a:latin typeface="Arial"/>
                <a:ea typeface="Arial"/>
                <a:cs typeface="Arial"/>
              </a:defRPr>
            </a:defPPr>
            <a:lvl1pPr>
              <a:defRPr sz="3225" b="1">
                <a:solidFill>
                  <a:srgbClr val="102F45"/>
                </a:solidFill>
                <a:latin typeface="Arial"/>
                <a:ea typeface="Arial"/>
                <a:cs typeface="Arial"/>
              </a:defRPr>
            </a:lvl1pPr>
            <a:lvl2pPr>
              <a:defRPr sz="3225" b="1">
                <a:solidFill>
                  <a:srgbClr val="102F45"/>
                </a:solidFill>
                <a:latin typeface="Arial"/>
                <a:ea typeface="Arial"/>
                <a:cs typeface="Arial"/>
              </a:defRPr>
            </a:lvl2pPr>
            <a:lvl3pPr>
              <a:defRPr sz="3225" b="1">
                <a:solidFill>
                  <a:srgbClr val="102F45"/>
                </a:solidFill>
                <a:latin typeface="Arial"/>
                <a:ea typeface="Arial"/>
                <a:cs typeface="Arial"/>
              </a:defRPr>
            </a:lvl3pPr>
            <a:lvl4pPr>
              <a:defRPr sz="3225" b="1">
                <a:solidFill>
                  <a:srgbClr val="102F45"/>
                </a:solidFill>
                <a:latin typeface="Arial"/>
                <a:ea typeface="Arial"/>
                <a:cs typeface="Arial"/>
              </a:defRPr>
            </a:lvl4pPr>
            <a:lvl5pPr>
              <a:defRPr sz="3225" b="1">
                <a:solidFill>
                  <a:srgbClr val="102F45"/>
                </a:solidFill>
                <a:latin typeface="Arial"/>
                <a:ea typeface="Arial"/>
                <a:cs typeface="Arial"/>
              </a:defRPr>
            </a:lvl5pPr>
            <a:lvl6pPr>
              <a:defRPr sz="3225" b="1">
                <a:solidFill>
                  <a:srgbClr val="102F45"/>
                </a:solidFill>
                <a:latin typeface="Arial"/>
                <a:ea typeface="Arial"/>
                <a:cs typeface="Arial"/>
              </a:defRPr>
            </a:lvl6pPr>
            <a:lvl7pPr>
              <a:defRPr sz="3225" b="1">
                <a:solidFill>
                  <a:srgbClr val="102F45"/>
                </a:solidFill>
                <a:latin typeface="Arial"/>
                <a:ea typeface="Arial"/>
                <a:cs typeface="Arial"/>
              </a:defRPr>
            </a:lvl7pPr>
            <a:lvl8pPr>
              <a:defRPr sz="3225" b="1">
                <a:solidFill>
                  <a:srgbClr val="102F45"/>
                </a:solidFill>
                <a:latin typeface="Arial"/>
                <a:ea typeface="Arial"/>
                <a:cs typeface="Arial"/>
              </a:defRPr>
            </a:lvl8pPr>
            <a:lvl9pPr>
              <a:defRPr sz="3225" b="1">
                <a:solidFill>
                  <a:srgbClr val="102F45"/>
                </a:solidFill>
                <a:latin typeface="Arial"/>
                <a:ea typeface="Arial"/>
                <a:cs typeface="Arial"/>
              </a:defRPr>
            </a:lvl9pPr>
          </a:lstStyle>
          <a:p xmlns:a="http://schemas.openxmlformats.org/drawingml/2006/main">
            <a:pPr>
              <a:defRPr sz="3225" b="1">
                <a:solidFill>
                  <a:srgbClr val="102F45"/>
                </a:solidFill>
                <a:latin typeface="Arial"/>
                <a:ea typeface="Arial"/>
                <a:cs typeface="Arial"/>
              </a:defRPr>
            </a:pPr>
            <a:r>
              <a:rPr sz="3225" b="1">
                <a:solidFill>
                  <a:srgbClr val="102F45"/>
                </a:solidFill>
                <a:latin typeface="Arial"/>
                <a:ea typeface="Arial"/>
                <a:cs typeface="Arial"/>
              </a:rPr>
              <a:t>Relationship-manager demo and judgment</a:t>
            </a:r>
          </a:p>
        </p:txBody>
      </p:sp>
      <p:sp>
        <p:nvSpPr>
          <p:cNvPr id="2" name="">
            <a:extLst xmlns:a="http://schemas.openxmlformats.org/drawingml/2006/main">
              <a:ext uri="{FF2B5EF4-FFF2-40B4-BE49-F238E27FC236}">
                <a16:creationId xmlns:a16="http://schemas.microsoft.com/office/drawing/2014/main" id="{4C157129-5BC8-44D0-8A91-3E969B680640}"/>
              </a:ext>
            </a:extLst>
          </p:cNvPr>
          <p:cNvSpPr>
            <a:spLocks xmlns:a="http://schemas.openxmlformats.org/drawingml/2006/main" noGrp="1"/>
          </p:cNvSpPr>
          <p:nvPr/>
        </p:nvSpPr>
        <p:spPr>
          <a:xfrm xmlns:a="http://schemas.openxmlformats.org/drawingml/2006/main">
            <a:off x="609600" y="64484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a:solidFill>
                  <a:srgbClr val="5B6B75"/>
                </a:solidFill>
                <a:latin typeface="Arial"/>
                <a:ea typeface="Arial"/>
                <a:cs typeface="Arial"/>
              </a:defRPr>
            </a:defPPr>
            <a:lvl1pPr>
              <a:defRPr sz="1275">
                <a:solidFill>
                  <a:srgbClr val="5B6B75"/>
                </a:solidFill>
                <a:latin typeface="Arial"/>
                <a:ea typeface="Arial"/>
                <a:cs typeface="Arial"/>
              </a:defRPr>
            </a:lvl1pPr>
            <a:lvl2pPr>
              <a:defRPr sz="1275">
                <a:solidFill>
                  <a:srgbClr val="5B6B75"/>
                </a:solidFill>
                <a:latin typeface="Arial"/>
                <a:ea typeface="Arial"/>
                <a:cs typeface="Arial"/>
              </a:defRPr>
            </a:lvl2pPr>
            <a:lvl3pPr>
              <a:defRPr sz="1275">
                <a:solidFill>
                  <a:srgbClr val="5B6B75"/>
                </a:solidFill>
                <a:latin typeface="Arial"/>
                <a:ea typeface="Arial"/>
                <a:cs typeface="Arial"/>
              </a:defRPr>
            </a:lvl3pPr>
            <a:lvl4pPr>
              <a:defRPr sz="1275">
                <a:solidFill>
                  <a:srgbClr val="5B6B75"/>
                </a:solidFill>
                <a:latin typeface="Arial"/>
                <a:ea typeface="Arial"/>
                <a:cs typeface="Arial"/>
              </a:defRPr>
            </a:lvl4pPr>
            <a:lvl5pPr>
              <a:defRPr sz="1275">
                <a:solidFill>
                  <a:srgbClr val="5B6B75"/>
                </a:solidFill>
                <a:latin typeface="Arial"/>
                <a:ea typeface="Arial"/>
                <a:cs typeface="Arial"/>
              </a:defRPr>
            </a:lvl5pPr>
            <a:lvl6pPr>
              <a:defRPr sz="1275">
                <a:solidFill>
                  <a:srgbClr val="5B6B75"/>
                </a:solidFill>
                <a:latin typeface="Arial"/>
                <a:ea typeface="Arial"/>
                <a:cs typeface="Arial"/>
              </a:defRPr>
            </a:lvl6pPr>
            <a:lvl7pPr>
              <a:defRPr sz="1275">
                <a:solidFill>
                  <a:srgbClr val="5B6B75"/>
                </a:solidFill>
                <a:latin typeface="Arial"/>
                <a:ea typeface="Arial"/>
                <a:cs typeface="Arial"/>
              </a:defRPr>
            </a:lvl7pPr>
            <a:lvl8pPr>
              <a:defRPr sz="1275">
                <a:solidFill>
                  <a:srgbClr val="5B6B75"/>
                </a:solidFill>
                <a:latin typeface="Arial"/>
                <a:ea typeface="Arial"/>
                <a:cs typeface="Arial"/>
              </a:defRPr>
            </a:lvl8pPr>
            <a:lvl9pPr>
              <a:defRPr sz="1275">
                <a:solidFill>
                  <a:srgbClr val="5B6B75"/>
                </a:solidFill>
                <a:latin typeface="Arial"/>
                <a:ea typeface="Arial"/>
                <a:cs typeface="Arial"/>
              </a:defRPr>
            </a:lvl9pPr>
          </a:lstStyle>
          <a:p xmlns:a="http://schemas.openxmlformats.org/drawingml/2006/main">
            <a:pPr>
              <a:defRPr sz="1275">
                <a:solidFill>
                  <a:srgbClr val="5B6B75"/>
                </a:solidFill>
                <a:latin typeface="Arial"/>
                <a:ea typeface="Arial"/>
                <a:cs typeface="Arial"/>
              </a:defRPr>
            </a:pPr>
            <a:r>
              <a:rPr sz="1275">
                <a:solidFill>
                  <a:srgbClr val="5B6B75"/>
                </a:solidFill>
                <a:latin typeface="Arial"/>
                <a:ea typeface="Arial"/>
                <a:cs typeface="Arial"/>
              </a:rPr>
              <a:t>Independent banking analytics prototype   5/5</a:t>
            </a:r>
          </a:p>
        </p:txBody>
      </p:sp>
      <p:graphicFrame>
        <p:nvGraphicFramePr>
          <p:cNvPr id="3" name="">
            <a:extLst xmlns:a="http://schemas.openxmlformats.org/drawingml/2006/main">
              <a:ext uri="{FF2B5EF4-FFF2-40B4-BE49-F238E27FC236}">
                <a16:creationId xmlns:a16="http://schemas.microsoft.com/office/drawing/2014/main" id="{55B8D637-765B-4358-A862-B95BDF503313}"/>
              </a:ext>
            </a:extLst>
          </p:cNvPr>
          <p:cNvGraphicFramePr/>
          <p:nvPr/>
        </p:nvGraphicFramePr>
        <p:xfrm>
          <a:off xmlns:a="http://schemas.openxmlformats.org/drawingml/2006/main" x="609600" y="1438275"/>
          <a:ext xmlns:a="http://schemas.openxmlformats.org/drawingml/2006/main" cx="10972800" cy="2733675"/>
        </p:xfrm>
        <a:graphic xmlns:a="http://schemas.openxmlformats.org/drawingml/2006/main">
          <a:graphicData uri="http://schemas.openxmlformats.org/drawingml/2006/table">
            <a:tbl>
              <a:tblPr/>
              <a:tblGrid>
                <a:gridCol w="3333750"/>
                <a:gridCol w="7639050"/>
              </a:tblGrid>
              <a:tr h="546735">
                <a:tc>
                  <a:txBody>
                    <a:bodyPr/>
                    <a:lstStyle/>
                    <a:p>
                      <a:r>
                        <a:rPr sz="1875" b="1">
                          <a:solidFill>
                            <a:srgbClr val="FFFFFF"/>
                          </a:solidFill>
                          <a:latin typeface="Arial"/>
                          <a:ea typeface="Arial"/>
                          <a:cs typeface="Arial"/>
                        </a:rPr>
                        <a:t>Demo action</a:t>
                      </a:r>
                    </a:p>
                  </a:txBody>
                  <a:tcPr marL="114300" marR="114300" marT="85725" marB="85725" anchor="ctr">
                    <a:lnL w="6668">
                      <a:solidFill>
                        <a:srgbClr val="CAD5DA"/>
                      </a:solidFill>
                      <a:prstDash val="solid"/>
                    </a:lnL>
                    <a:lnR w="6668">
                      <a:solidFill>
                        <a:srgbClr val="CAD5DA"/>
                      </a:solidFill>
                      <a:prstDash val="solid"/>
                    </a:lnR>
                    <a:lnT w="6668">
                      <a:solidFill>
                        <a:srgbClr val="CAD5DA"/>
                      </a:solidFill>
                      <a:prstDash val="solid"/>
                    </a:lnT>
                    <a:lnB w="6668">
                      <a:solidFill>
                        <a:srgbClr val="CAD5DA"/>
                      </a:solidFill>
                      <a:prstDash val="solid"/>
                    </a:lnB>
                    <a:solidFill>
                      <a:srgbClr val="102F45"/>
                    </a:solidFill>
                  </a:tcPr>
                </a:tc>
                <a:tc>
                  <a:txBody>
                    <a:bodyPr/>
                    <a:lstStyle/>
                    <a:p>
                      <a:r>
                        <a:rPr sz="1875" b="1">
                          <a:solidFill>
                            <a:srgbClr val="FFFFFF"/>
                          </a:solidFill>
                          <a:latin typeface="Arial"/>
                          <a:ea typeface="Arial"/>
                          <a:cs typeface="Arial"/>
                        </a:rPr>
                        <a:t>What the relationship manager sees</a:t>
                      </a:r>
                    </a:p>
                  </a:txBody>
                  <a:tcPr marL="114300" marR="114300" marT="85725" marB="85725" anchor="ctr">
                    <a:lnR w="6668">
                      <a:solidFill>
                        <a:srgbClr val="CAD5DA"/>
                      </a:solidFill>
                      <a:prstDash val="solid"/>
                    </a:lnR>
                    <a:lnT w="6668">
                      <a:solidFill>
                        <a:srgbClr val="CAD5DA"/>
                      </a:solidFill>
                      <a:prstDash val="solid"/>
                    </a:lnT>
                    <a:lnB w="6668">
                      <a:solidFill>
                        <a:srgbClr val="CAD5DA"/>
                      </a:solidFill>
                      <a:prstDash val="solid"/>
                    </a:lnB>
                    <a:solidFill>
                      <a:srgbClr val="102F45"/>
                    </a:solidFill>
                  </a:tcPr>
                </a:tc>
              </a:tr>
              <a:tr h="546735">
                <a:tc>
                  <a:txBody>
                    <a:bodyPr/>
                    <a:lstStyle/>
                    <a:p>
                      <a:r>
                        <a:rPr sz="1875">
                          <a:solidFill>
                            <a:srgbClr val="152F40"/>
                          </a:solidFill>
                          <a:latin typeface="Arial"/>
                          <a:ea typeface="Arial"/>
                          <a:cs typeface="Arial"/>
                        </a:rPr>
                        <a:t>Set outreach capacity</a:t>
                      </a:r>
                    </a:p>
                  </a:txBody>
                  <a:tcPr marL="114300" marR="114300" marT="85725" marB="85725" anchor="ctr">
                    <a:lnL w="6668">
                      <a:solidFill>
                        <a:srgbClr val="CAD5DA"/>
                      </a:solidFill>
                      <a:prstDash val="solid"/>
                    </a:lnL>
                    <a:lnR w="6668">
                      <a:solidFill>
                        <a:srgbClr val="CAD5DA"/>
                      </a:solidFill>
                      <a:prstDash val="solid"/>
                    </a:lnR>
                    <a:lnB w="6668">
                      <a:solidFill>
                        <a:srgbClr val="CAD5DA"/>
                      </a:solidFill>
                      <a:prstDash val="solid"/>
                    </a:lnB>
                    <a:solidFill>
                      <a:srgbClr val="FFFFFF"/>
                    </a:solidFill>
                  </a:tcPr>
                </a:tc>
                <a:tc>
                  <a:txBody>
                    <a:bodyPr/>
                    <a:lstStyle/>
                    <a:p>
                      <a:r>
                        <a:rPr sz="1875">
                          <a:solidFill>
                            <a:srgbClr val="152F40"/>
                          </a:solidFill>
                          <a:latin typeface="Arial"/>
                          <a:ea typeface="Arial"/>
                          <a:cs typeface="Arial"/>
                        </a:rPr>
                        <a:t>A ranked historical replay pool with clear record counts</a:t>
                      </a:r>
                    </a:p>
                  </a:txBody>
                  <a:tcPr marL="114300" marR="114300" marT="85725" marB="85725" anchor="ctr">
                    <a:lnR w="6668">
                      <a:solidFill>
                        <a:srgbClr val="CAD5DA"/>
                      </a:solidFill>
                      <a:prstDash val="solid"/>
                    </a:lnR>
                    <a:lnB w="6668">
                      <a:solidFill>
                        <a:srgbClr val="CAD5DA"/>
                      </a:solidFill>
                      <a:prstDash val="solid"/>
                    </a:lnB>
                    <a:solidFill>
                      <a:srgbClr val="FFFFFF"/>
                    </a:solidFill>
                  </a:tcPr>
                </a:tc>
              </a:tr>
              <a:tr h="546735">
                <a:tc>
                  <a:txBody>
                    <a:bodyPr/>
                    <a:lstStyle/>
                    <a:p>
                      <a:r>
                        <a:rPr sz="1875">
                          <a:solidFill>
                            <a:srgbClr val="152F40"/>
                          </a:solidFill>
                          <a:latin typeface="Arial"/>
                          <a:ea typeface="Arial"/>
                          <a:cs typeface="Arial"/>
                        </a:rPr>
                        <a:t>Apply eligibility rules</a:t>
                      </a:r>
                    </a:p>
                  </a:txBody>
                  <a:tcPr marL="114300" marR="114300" marT="85725" marB="85725" anchor="ctr">
                    <a:lnL w="6668">
                      <a:solidFill>
                        <a:srgbClr val="CAD5DA"/>
                      </a:solidFill>
                      <a:prstDash val="solid"/>
                    </a:lnL>
                    <a:lnR w="6668">
                      <a:solidFill>
                        <a:srgbClr val="CAD5DA"/>
                      </a:solidFill>
                      <a:prstDash val="solid"/>
                    </a:lnR>
                    <a:lnB w="6668">
                      <a:solidFill>
                        <a:srgbClr val="CAD5DA"/>
                      </a:solidFill>
                      <a:prstDash val="solid"/>
                    </a:lnB>
                    <a:solidFill>
                      <a:srgbClr val="FFFFFF"/>
                    </a:solidFill>
                  </a:tcPr>
                </a:tc>
                <a:tc>
                  <a:txBody>
                    <a:bodyPr/>
                    <a:lstStyle/>
                    <a:p>
                      <a:r>
                        <a:rPr sz="1875">
                          <a:solidFill>
                            <a:srgbClr val="152F40"/>
                          </a:solidFill>
                          <a:latin typeface="Arial"/>
                          <a:ea typeface="Arial"/>
                          <a:cs typeface="Arial"/>
                        </a:rPr>
                        <a:t>Simulated opt-outs suppress outreach regardless of score</a:t>
                      </a:r>
                    </a:p>
                  </a:txBody>
                  <a:tcPr marL="114300" marR="114300" marT="85725" marB="85725" anchor="ctr">
                    <a:lnR w="6668">
                      <a:solidFill>
                        <a:srgbClr val="CAD5DA"/>
                      </a:solidFill>
                      <a:prstDash val="solid"/>
                    </a:lnR>
                    <a:lnB w="6668">
                      <a:solidFill>
                        <a:srgbClr val="CAD5DA"/>
                      </a:solidFill>
                      <a:prstDash val="solid"/>
                    </a:lnB>
                    <a:solidFill>
                      <a:srgbClr val="FFFFFF"/>
                    </a:solidFill>
                  </a:tcPr>
                </a:tc>
              </a:tr>
              <a:tr h="546735">
                <a:tc>
                  <a:txBody>
                    <a:bodyPr/>
                    <a:lstStyle/>
                    <a:p>
                      <a:r>
                        <a:rPr sz="1875">
                          <a:solidFill>
                            <a:srgbClr val="152F40"/>
                          </a:solidFill>
                          <a:latin typeface="Arial"/>
                          <a:ea typeface="Arial"/>
                          <a:cs typeface="Arial"/>
                        </a:rPr>
                        <a:t>Review an eligible record</a:t>
                      </a:r>
                    </a:p>
                  </a:txBody>
                  <a:tcPr marL="114300" marR="114300" marT="85725" marB="85725" anchor="ctr">
                    <a:lnL w="6668">
                      <a:solidFill>
                        <a:srgbClr val="CAD5DA"/>
                      </a:solidFill>
                      <a:prstDash val="solid"/>
                    </a:lnL>
                    <a:lnR w="6668">
                      <a:solidFill>
                        <a:srgbClr val="CAD5DA"/>
                      </a:solidFill>
                      <a:prstDash val="solid"/>
                    </a:lnR>
                    <a:lnB w="6668">
                      <a:solidFill>
                        <a:srgbClr val="CAD5DA"/>
                      </a:solidFill>
                      <a:prstDash val="solid"/>
                    </a:lnB>
                    <a:solidFill>
                      <a:srgbClr val="FFFFFF"/>
                    </a:solidFill>
                  </a:tcPr>
                </a:tc>
                <a:tc>
                  <a:txBody>
                    <a:bodyPr/>
                    <a:lstStyle/>
                    <a:p>
                      <a:r>
                        <a:rPr sz="1875">
                          <a:solidFill>
                            <a:srgbClr val="152F40"/>
                          </a:solidFill>
                          <a:latin typeface="Arial"/>
                          <a:ea typeface="Arial"/>
                          <a:cs typeface="Arial"/>
                        </a:rPr>
                        <a:t>Model score plus recorded prior-contact context</a:t>
                      </a:r>
                    </a:p>
                  </a:txBody>
                  <a:tcPr marL="114300" marR="114300" marT="85725" marB="85725" anchor="ctr">
                    <a:lnR w="6668">
                      <a:solidFill>
                        <a:srgbClr val="CAD5DA"/>
                      </a:solidFill>
                      <a:prstDash val="solid"/>
                    </a:lnR>
                    <a:lnB w="6668">
                      <a:solidFill>
                        <a:srgbClr val="CAD5DA"/>
                      </a:solidFill>
                      <a:prstDash val="solid"/>
                    </a:lnB>
                    <a:solidFill>
                      <a:srgbClr val="FFFFFF"/>
                    </a:solidFill>
                  </a:tcPr>
                </a:tc>
              </a:tr>
              <a:tr h="546735">
                <a:tc>
                  <a:txBody>
                    <a:bodyPr/>
                    <a:lstStyle/>
                    <a:p>
                      <a:r>
                        <a:rPr sz="1875">
                          <a:solidFill>
                            <a:srgbClr val="152F40"/>
                          </a:solidFill>
                          <a:latin typeface="Arial"/>
                          <a:ea typeface="Arial"/>
                          <a:cs typeface="Arial"/>
                        </a:rPr>
                        <a:t>Download the shortlist</a:t>
                      </a:r>
                    </a:p>
                  </a:txBody>
                  <a:tcPr marL="114300" marR="114300" marT="85725" marB="85725" anchor="ctr">
                    <a:lnL w="6668">
                      <a:solidFill>
                        <a:srgbClr val="CAD5DA"/>
                      </a:solidFill>
                      <a:prstDash val="solid"/>
                    </a:lnL>
                    <a:lnR w="6668">
                      <a:solidFill>
                        <a:srgbClr val="CAD5DA"/>
                      </a:solidFill>
                      <a:prstDash val="solid"/>
                    </a:lnR>
                    <a:lnB w="6668">
                      <a:solidFill>
                        <a:srgbClr val="CAD5DA"/>
                      </a:solidFill>
                      <a:prstDash val="solid"/>
                    </a:lnB>
                    <a:solidFill>
                      <a:srgbClr val="FFFFFF"/>
                    </a:solidFill>
                  </a:tcPr>
                </a:tc>
                <a:tc>
                  <a:txBody>
                    <a:bodyPr/>
                    <a:lstStyle/>
                    <a:p>
                      <a:r>
                        <a:rPr sz="1875">
                          <a:solidFill>
                            <a:srgbClr val="152F40"/>
                          </a:solidFill>
                          <a:latin typeface="Arial"/>
                          <a:ea typeface="Arial"/>
                          <a:cs typeface="Arial"/>
                        </a:rPr>
                        <a:t>Surrogate IDs and context, without outcomes or contact details</a:t>
                      </a:r>
                    </a:p>
                  </a:txBody>
                  <a:tcPr marL="114300" marR="114300" marT="85725" marB="85725" anchor="ctr">
                    <a:lnR w="6668">
                      <a:solidFill>
                        <a:srgbClr val="CAD5DA"/>
                      </a:solidFill>
                      <a:prstDash val="solid"/>
                    </a:lnR>
                    <a:lnB w="6668">
                      <a:solidFill>
                        <a:srgbClr val="CAD5DA"/>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EAD16011-478E-4586-A217-1476C92AF794}"/>
              </a:ext>
            </a:extLst>
          </p:cNvPr>
          <p:cNvSpPr>
            <a:spLocks xmlns:a="http://schemas.openxmlformats.org/drawingml/2006/main" noGrp="1"/>
          </p:cNvSpPr>
          <p:nvPr/>
        </p:nvSpPr>
        <p:spPr>
          <a:xfrm xmlns:a="http://schemas.openxmlformats.org/drawingml/2006/main">
            <a:off x="609600" y="461010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1">
                <a:solidFill>
                  <a:srgbClr val="087F8C"/>
                </a:solidFill>
                <a:latin typeface="Arial"/>
                <a:ea typeface="Arial"/>
                <a:cs typeface="Arial"/>
              </a:defRPr>
            </a:defPPr>
            <a:lvl1pPr>
              <a:defRPr sz="2100" b="1">
                <a:solidFill>
                  <a:srgbClr val="087F8C"/>
                </a:solidFill>
                <a:latin typeface="Arial"/>
                <a:ea typeface="Arial"/>
                <a:cs typeface="Arial"/>
              </a:defRPr>
            </a:lvl1pPr>
            <a:lvl2pPr>
              <a:defRPr sz="2100" b="1">
                <a:solidFill>
                  <a:srgbClr val="087F8C"/>
                </a:solidFill>
                <a:latin typeface="Arial"/>
                <a:ea typeface="Arial"/>
                <a:cs typeface="Arial"/>
              </a:defRPr>
            </a:lvl2pPr>
            <a:lvl3pPr>
              <a:defRPr sz="2100" b="1">
                <a:solidFill>
                  <a:srgbClr val="087F8C"/>
                </a:solidFill>
                <a:latin typeface="Arial"/>
                <a:ea typeface="Arial"/>
                <a:cs typeface="Arial"/>
              </a:defRPr>
            </a:lvl3pPr>
            <a:lvl4pPr>
              <a:defRPr sz="2100" b="1">
                <a:solidFill>
                  <a:srgbClr val="087F8C"/>
                </a:solidFill>
                <a:latin typeface="Arial"/>
                <a:ea typeface="Arial"/>
                <a:cs typeface="Arial"/>
              </a:defRPr>
            </a:lvl4pPr>
            <a:lvl5pPr>
              <a:defRPr sz="2100" b="1">
                <a:solidFill>
                  <a:srgbClr val="087F8C"/>
                </a:solidFill>
                <a:latin typeface="Arial"/>
                <a:ea typeface="Arial"/>
                <a:cs typeface="Arial"/>
              </a:defRPr>
            </a:lvl5pPr>
            <a:lvl6pPr>
              <a:defRPr sz="2100" b="1">
                <a:solidFill>
                  <a:srgbClr val="087F8C"/>
                </a:solidFill>
                <a:latin typeface="Arial"/>
                <a:ea typeface="Arial"/>
                <a:cs typeface="Arial"/>
              </a:defRPr>
            </a:lvl6pPr>
            <a:lvl7pPr>
              <a:defRPr sz="2100" b="1">
                <a:solidFill>
                  <a:srgbClr val="087F8C"/>
                </a:solidFill>
                <a:latin typeface="Arial"/>
                <a:ea typeface="Arial"/>
                <a:cs typeface="Arial"/>
              </a:defRPr>
            </a:lvl7pPr>
            <a:lvl8pPr>
              <a:defRPr sz="2100" b="1">
                <a:solidFill>
                  <a:srgbClr val="087F8C"/>
                </a:solidFill>
                <a:latin typeface="Arial"/>
                <a:ea typeface="Arial"/>
                <a:cs typeface="Arial"/>
              </a:defRPr>
            </a:lvl8pPr>
            <a:lvl9pPr>
              <a:defRPr sz="2100" b="1">
                <a:solidFill>
                  <a:srgbClr val="087F8C"/>
                </a:solidFill>
                <a:latin typeface="Arial"/>
                <a:ea typeface="Arial"/>
                <a:cs typeface="Arial"/>
              </a:defRPr>
            </a:lvl9pPr>
          </a:lstStyle>
          <a:p xmlns:a="http://schemas.openxmlformats.org/drawingml/2006/main">
            <a:pPr>
              <a:defRPr sz="2100" b="1">
                <a:solidFill>
                  <a:srgbClr val="087F8C"/>
                </a:solidFill>
                <a:latin typeface="Arial"/>
                <a:ea typeface="Arial"/>
                <a:cs typeface="Arial"/>
              </a:defRPr>
            </a:pPr>
            <a:r>
              <a:rPr sz="2100" b="1">
                <a:solidFill>
                  <a:srgbClr val="087F8C"/>
                </a:solidFill>
                <a:latin typeface="Arial"/>
                <a:ea typeface="Arial"/>
                <a:cs typeface="Arial"/>
              </a:rPr>
              <a:t>Conversation prompt</a:t>
            </a:r>
          </a:p>
        </p:txBody>
      </p:sp>
      <p:sp>
        <p:nvSpPr>
          <p:cNvPr id="5" name="">
            <a:extLst xmlns:a="http://schemas.openxmlformats.org/drawingml/2006/main">
              <a:ext uri="{FF2B5EF4-FFF2-40B4-BE49-F238E27FC236}">
                <a16:creationId xmlns:a16="http://schemas.microsoft.com/office/drawing/2014/main" id="{662E108A-1F78-4371-ABB6-2B37A9827225}"/>
              </a:ext>
            </a:extLst>
          </p:cNvPr>
          <p:cNvSpPr>
            <a:spLocks xmlns:a="http://schemas.openxmlformats.org/drawingml/2006/main" noGrp="1"/>
          </p:cNvSpPr>
          <p:nvPr/>
        </p:nvSpPr>
        <p:spPr>
          <a:xfrm xmlns:a="http://schemas.openxmlformats.org/drawingml/2006/main">
            <a:off x="609600" y="5076825"/>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a:solidFill>
                  <a:srgbClr val="152F40"/>
                </a:solidFill>
                <a:latin typeface="Arial"/>
                <a:ea typeface="Arial"/>
                <a:cs typeface="Arial"/>
              </a:defRPr>
            </a:defPPr>
            <a:lvl1pPr>
              <a:defRPr sz="2175">
                <a:solidFill>
                  <a:srgbClr val="152F40"/>
                </a:solidFill>
                <a:latin typeface="Arial"/>
                <a:ea typeface="Arial"/>
                <a:cs typeface="Arial"/>
              </a:defRPr>
            </a:lvl1pPr>
            <a:lvl2pPr>
              <a:defRPr sz="2175">
                <a:solidFill>
                  <a:srgbClr val="152F40"/>
                </a:solidFill>
                <a:latin typeface="Arial"/>
                <a:ea typeface="Arial"/>
                <a:cs typeface="Arial"/>
              </a:defRPr>
            </a:lvl2pPr>
            <a:lvl3pPr>
              <a:defRPr sz="2175">
                <a:solidFill>
                  <a:srgbClr val="152F40"/>
                </a:solidFill>
                <a:latin typeface="Arial"/>
                <a:ea typeface="Arial"/>
                <a:cs typeface="Arial"/>
              </a:defRPr>
            </a:lvl3pPr>
            <a:lvl4pPr>
              <a:defRPr sz="2175">
                <a:solidFill>
                  <a:srgbClr val="152F40"/>
                </a:solidFill>
                <a:latin typeface="Arial"/>
                <a:ea typeface="Arial"/>
                <a:cs typeface="Arial"/>
              </a:defRPr>
            </a:lvl4pPr>
            <a:lvl5pPr>
              <a:defRPr sz="2175">
                <a:solidFill>
                  <a:srgbClr val="152F40"/>
                </a:solidFill>
                <a:latin typeface="Arial"/>
                <a:ea typeface="Arial"/>
                <a:cs typeface="Arial"/>
              </a:defRPr>
            </a:lvl5pPr>
            <a:lvl6pPr>
              <a:defRPr sz="2175">
                <a:solidFill>
                  <a:srgbClr val="152F40"/>
                </a:solidFill>
                <a:latin typeface="Arial"/>
                <a:ea typeface="Arial"/>
                <a:cs typeface="Arial"/>
              </a:defRPr>
            </a:lvl6pPr>
            <a:lvl7pPr>
              <a:defRPr sz="2175">
                <a:solidFill>
                  <a:srgbClr val="152F40"/>
                </a:solidFill>
                <a:latin typeface="Arial"/>
                <a:ea typeface="Arial"/>
                <a:cs typeface="Arial"/>
              </a:defRPr>
            </a:lvl7pPr>
            <a:lvl8pPr>
              <a:defRPr sz="2175">
                <a:solidFill>
                  <a:srgbClr val="152F40"/>
                </a:solidFill>
                <a:latin typeface="Arial"/>
                <a:ea typeface="Arial"/>
                <a:cs typeface="Arial"/>
              </a:defRPr>
            </a:lvl8pPr>
            <a:lvl9pPr>
              <a:defRPr sz="2175">
                <a:solidFill>
                  <a:srgbClr val="152F40"/>
                </a:solidFill>
                <a:latin typeface="Arial"/>
                <a:ea typeface="Arial"/>
                <a:cs typeface="Arial"/>
              </a:defRPr>
            </a:lvl9pPr>
          </a:lstStyle>
          <a:p xmlns:a="http://schemas.openxmlformats.org/drawingml/2006/main">
            <a:pPr>
              <a:defRPr sz="2175">
                <a:solidFill>
                  <a:srgbClr val="152F40"/>
                </a:solidFill>
                <a:latin typeface="Arial"/>
                <a:ea typeface="Arial"/>
                <a:cs typeface="Arial"/>
              </a:defRPr>
            </a:pPr>
            <a:r>
              <a:rPr sz="2175">
                <a:solidFill>
                  <a:srgbClr val="152F40"/>
                </a:solidFill>
                <a:latin typeface="Arial"/>
                <a:ea typeface="Arial"/>
                <a:cs typeface="Arial"/>
              </a:rPr>
              <a:t>“Would a fixed-term savings option fit your liquidity needs</a:t>
            </a:r>
          </a:p>
          <a:p xmlns:a="http://schemas.openxmlformats.org/drawingml/2006/main">
            <a:pPr>
              <a:defRPr sz="2175">
                <a:solidFill>
                  <a:srgbClr val="152F40"/>
                </a:solidFill>
                <a:latin typeface="Arial"/>
                <a:ea typeface="Arial"/>
                <a:cs typeface="Arial"/>
              </a:defRPr>
            </a:pPr>
            <a:r>
              <a:rPr sz="2175">
                <a:solidFill>
                  <a:srgbClr val="152F40"/>
                </a:solidFill>
                <a:latin typeface="Arial"/>
                <a:ea typeface="Arial"/>
                <a:cs typeface="Arial"/>
              </a:rPr>
              <a:t>and financial goals?”</a:t>
            </a:r>
          </a:p>
        </p:txBody>
      </p:sp>
      <p:sp>
        <p:nvSpPr>
          <p:cNvPr id="6" name="">
            <a:extLst xmlns:a="http://schemas.openxmlformats.org/drawingml/2006/main">
              <a:ext uri="{FF2B5EF4-FFF2-40B4-BE49-F238E27FC236}">
                <a16:creationId xmlns:a16="http://schemas.microsoft.com/office/drawing/2014/main" id="{42F761DF-654C-42A7-AF8E-A508D1F46B7E}"/>
              </a:ext>
            </a:extLst>
          </p:cNvPr>
          <p:cNvSpPr>
            <a:spLocks xmlns:a="http://schemas.openxmlformats.org/drawingml/2006/main" noGrp="1"/>
          </p:cNvSpPr>
          <p:nvPr/>
        </p:nvSpPr>
        <p:spPr>
          <a:xfrm xmlns:a="http://schemas.openxmlformats.org/drawingml/2006/main">
            <a:off x="609600" y="59817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a:solidFill>
                  <a:srgbClr val="5B6B75"/>
                </a:solidFill>
                <a:latin typeface="Arial"/>
                <a:ea typeface="Arial"/>
                <a:cs typeface="Arial"/>
              </a:defRPr>
            </a:defPPr>
            <a:lvl1pPr>
              <a:defRPr sz="1725">
                <a:solidFill>
                  <a:srgbClr val="5B6B75"/>
                </a:solidFill>
                <a:latin typeface="Arial"/>
                <a:ea typeface="Arial"/>
                <a:cs typeface="Arial"/>
              </a:defRPr>
            </a:lvl1pPr>
            <a:lvl2pPr>
              <a:defRPr sz="1725">
                <a:solidFill>
                  <a:srgbClr val="5B6B75"/>
                </a:solidFill>
                <a:latin typeface="Arial"/>
                <a:ea typeface="Arial"/>
                <a:cs typeface="Arial"/>
              </a:defRPr>
            </a:lvl2pPr>
            <a:lvl3pPr>
              <a:defRPr sz="1725">
                <a:solidFill>
                  <a:srgbClr val="5B6B75"/>
                </a:solidFill>
                <a:latin typeface="Arial"/>
                <a:ea typeface="Arial"/>
                <a:cs typeface="Arial"/>
              </a:defRPr>
            </a:lvl3pPr>
            <a:lvl4pPr>
              <a:defRPr sz="1725">
                <a:solidFill>
                  <a:srgbClr val="5B6B75"/>
                </a:solidFill>
                <a:latin typeface="Arial"/>
                <a:ea typeface="Arial"/>
                <a:cs typeface="Arial"/>
              </a:defRPr>
            </a:lvl4pPr>
            <a:lvl5pPr>
              <a:defRPr sz="1725">
                <a:solidFill>
                  <a:srgbClr val="5B6B75"/>
                </a:solidFill>
                <a:latin typeface="Arial"/>
                <a:ea typeface="Arial"/>
                <a:cs typeface="Arial"/>
              </a:defRPr>
            </a:lvl5pPr>
            <a:lvl6pPr>
              <a:defRPr sz="1725">
                <a:solidFill>
                  <a:srgbClr val="5B6B75"/>
                </a:solidFill>
                <a:latin typeface="Arial"/>
                <a:ea typeface="Arial"/>
                <a:cs typeface="Arial"/>
              </a:defRPr>
            </a:lvl6pPr>
            <a:lvl7pPr>
              <a:defRPr sz="1725">
                <a:solidFill>
                  <a:srgbClr val="5B6B75"/>
                </a:solidFill>
                <a:latin typeface="Arial"/>
                <a:ea typeface="Arial"/>
                <a:cs typeface="Arial"/>
              </a:defRPr>
            </a:lvl7pPr>
            <a:lvl8pPr>
              <a:defRPr sz="1725">
                <a:solidFill>
                  <a:srgbClr val="5B6B75"/>
                </a:solidFill>
                <a:latin typeface="Arial"/>
                <a:ea typeface="Arial"/>
                <a:cs typeface="Arial"/>
              </a:defRPr>
            </a:lvl8pPr>
            <a:lvl9pPr>
              <a:defRPr sz="1725">
                <a:solidFill>
                  <a:srgbClr val="5B6B75"/>
                </a:solidFill>
                <a:latin typeface="Arial"/>
                <a:ea typeface="Arial"/>
                <a:cs typeface="Arial"/>
              </a:defRPr>
            </a:lvl9pPr>
          </a:lstStyle>
          <a:p xmlns:a="http://schemas.openxmlformats.org/drawingml/2006/main">
            <a:pPr>
              <a:defRPr sz="1725">
                <a:solidFill>
                  <a:srgbClr val="5B6B75"/>
                </a:solidFill>
                <a:latin typeface="Arial"/>
                <a:ea typeface="Arial"/>
                <a:cs typeface="Arial"/>
              </a:defRPr>
            </a:pPr>
            <a:r>
              <a:rPr sz="1725">
                <a:solidFill>
                  <a:srgbClr val="5B6B75"/>
                </a:solidFill>
                <a:latin typeface="Arial"/>
                <a:ea typeface="Arial"/>
                <a:cs typeface="Arial"/>
              </a:rPr>
              <a:t>Future use needs current data, real permissions, and a controlled evaluation of incremental benefit.</a:t>
            </a:r>
          </a:p>
        </p:txBody>
      </p:sp>
    </p:spTree>
    <p:extLst>
      <p:ext uri="{BB962C8B-B14F-4D97-AF65-F5344CB8AC3E}">
        <p14:creationId xmlns:p14="http://schemas.microsoft.com/office/powerpoint/2010/main" val="79339095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2026-10-19T15:03:18.3660000Z</dcterms:created>
  <dcterms:modified xsi:type="dcterms:W3CDTF">2026-10-19T15:03:18.3660000Z</dcterms:modified>
</coreProperties>
</file>